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71" r:id="rId5"/>
    <p:sldId id="270" r:id="rId6"/>
    <p:sldId id="269" r:id="rId7"/>
    <p:sldId id="272" r:id="rId8"/>
    <p:sldId id="264" r:id="rId9"/>
    <p:sldId id="265" r:id="rId10"/>
    <p:sldId id="267" r:id="rId11"/>
    <p:sldId id="268"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79" d="100"/>
          <a:sy n="79" d="100"/>
        </p:scale>
        <p:origin x="77"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BEEAB-AC46-4F3E-B5A0-527EA9A49A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1A4AAB81-23BA-45E2-AE2B-AD0DF6523B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7D36D023-AC2C-4607-997E-F0324362A961}"/>
              </a:ext>
            </a:extLst>
          </p:cNvPr>
          <p:cNvSpPr>
            <a:spLocks noGrp="1"/>
          </p:cNvSpPr>
          <p:nvPr>
            <p:ph type="dt" sz="half" idx="10"/>
          </p:nvPr>
        </p:nvSpPr>
        <p:spPr/>
        <p:txBody>
          <a:bodyPr/>
          <a:lstStyle/>
          <a:p>
            <a:fld id="{4C67476A-8C67-401F-A57B-69E5B980B945}" type="datetimeFigureOut">
              <a:rPr lang="en-NZ" smtClean="0"/>
              <a:t>22/05/2024</a:t>
            </a:fld>
            <a:endParaRPr lang="en-NZ"/>
          </a:p>
        </p:txBody>
      </p:sp>
      <p:sp>
        <p:nvSpPr>
          <p:cNvPr id="5" name="Footer Placeholder 4">
            <a:extLst>
              <a:ext uri="{FF2B5EF4-FFF2-40B4-BE49-F238E27FC236}">
                <a16:creationId xmlns:a16="http://schemas.microsoft.com/office/drawing/2014/main" id="{EF51AA9C-C0ED-45E8-8CC2-C882934DCD7B}"/>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30646E21-0004-44F1-947A-D1D0352ACB33}"/>
              </a:ext>
            </a:extLst>
          </p:cNvPr>
          <p:cNvSpPr>
            <a:spLocks noGrp="1"/>
          </p:cNvSpPr>
          <p:nvPr>
            <p:ph type="sldNum" sz="quarter" idx="12"/>
          </p:nvPr>
        </p:nvSpPr>
        <p:spPr/>
        <p:txBody>
          <a:bodyPr/>
          <a:lstStyle/>
          <a:p>
            <a:fld id="{65E50C32-80DD-483A-A21D-C60932AFD931}" type="slidenum">
              <a:rPr lang="en-NZ" smtClean="0"/>
              <a:t>‹#›</a:t>
            </a:fld>
            <a:endParaRPr lang="en-NZ"/>
          </a:p>
        </p:txBody>
      </p:sp>
    </p:spTree>
    <p:extLst>
      <p:ext uri="{BB962C8B-B14F-4D97-AF65-F5344CB8AC3E}">
        <p14:creationId xmlns:p14="http://schemas.microsoft.com/office/powerpoint/2010/main" val="468637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D1F84-B0E6-4CB9-840D-7ABCC25589C2}"/>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7612E125-96FD-49E8-8EE8-3D38874868A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D8A5836D-9EBB-4B56-8F1D-231F51D8AE1A}"/>
              </a:ext>
            </a:extLst>
          </p:cNvPr>
          <p:cNvSpPr>
            <a:spLocks noGrp="1"/>
          </p:cNvSpPr>
          <p:nvPr>
            <p:ph type="dt" sz="half" idx="10"/>
          </p:nvPr>
        </p:nvSpPr>
        <p:spPr/>
        <p:txBody>
          <a:bodyPr/>
          <a:lstStyle/>
          <a:p>
            <a:fld id="{4C67476A-8C67-401F-A57B-69E5B980B945}" type="datetimeFigureOut">
              <a:rPr lang="en-NZ" smtClean="0"/>
              <a:t>22/05/2024</a:t>
            </a:fld>
            <a:endParaRPr lang="en-NZ"/>
          </a:p>
        </p:txBody>
      </p:sp>
      <p:sp>
        <p:nvSpPr>
          <p:cNvPr id="5" name="Footer Placeholder 4">
            <a:extLst>
              <a:ext uri="{FF2B5EF4-FFF2-40B4-BE49-F238E27FC236}">
                <a16:creationId xmlns:a16="http://schemas.microsoft.com/office/drawing/2014/main" id="{A7A2E6FE-CC9E-4C9F-BAB6-480CBF60A9C0}"/>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8A6C79FF-EE33-42F9-9C46-B34F65D71790}"/>
              </a:ext>
            </a:extLst>
          </p:cNvPr>
          <p:cNvSpPr>
            <a:spLocks noGrp="1"/>
          </p:cNvSpPr>
          <p:nvPr>
            <p:ph type="sldNum" sz="quarter" idx="12"/>
          </p:nvPr>
        </p:nvSpPr>
        <p:spPr/>
        <p:txBody>
          <a:bodyPr/>
          <a:lstStyle/>
          <a:p>
            <a:fld id="{65E50C32-80DD-483A-A21D-C60932AFD931}" type="slidenum">
              <a:rPr lang="en-NZ" smtClean="0"/>
              <a:t>‹#›</a:t>
            </a:fld>
            <a:endParaRPr lang="en-NZ"/>
          </a:p>
        </p:txBody>
      </p:sp>
    </p:spTree>
    <p:extLst>
      <p:ext uri="{BB962C8B-B14F-4D97-AF65-F5344CB8AC3E}">
        <p14:creationId xmlns:p14="http://schemas.microsoft.com/office/powerpoint/2010/main" val="1705628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58F02-667F-44A2-A3EB-FA6C01074E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5326C89D-7CE8-4BE5-B048-CA6B89B6FD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68B3368-6A23-419B-B6EA-79C2B16322D1}"/>
              </a:ext>
            </a:extLst>
          </p:cNvPr>
          <p:cNvSpPr>
            <a:spLocks noGrp="1"/>
          </p:cNvSpPr>
          <p:nvPr>
            <p:ph type="dt" sz="half" idx="10"/>
          </p:nvPr>
        </p:nvSpPr>
        <p:spPr/>
        <p:txBody>
          <a:bodyPr/>
          <a:lstStyle/>
          <a:p>
            <a:fld id="{4C67476A-8C67-401F-A57B-69E5B980B945}" type="datetimeFigureOut">
              <a:rPr lang="en-NZ" smtClean="0"/>
              <a:t>22/05/2024</a:t>
            </a:fld>
            <a:endParaRPr lang="en-NZ"/>
          </a:p>
        </p:txBody>
      </p:sp>
      <p:sp>
        <p:nvSpPr>
          <p:cNvPr id="5" name="Footer Placeholder 4">
            <a:extLst>
              <a:ext uri="{FF2B5EF4-FFF2-40B4-BE49-F238E27FC236}">
                <a16:creationId xmlns:a16="http://schemas.microsoft.com/office/drawing/2014/main" id="{D91F6076-AF85-497F-9E2E-441591DC0557}"/>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485FBE3C-4751-46F9-B94C-BBCFF02BDD45}"/>
              </a:ext>
            </a:extLst>
          </p:cNvPr>
          <p:cNvSpPr>
            <a:spLocks noGrp="1"/>
          </p:cNvSpPr>
          <p:nvPr>
            <p:ph type="sldNum" sz="quarter" idx="12"/>
          </p:nvPr>
        </p:nvSpPr>
        <p:spPr/>
        <p:txBody>
          <a:bodyPr/>
          <a:lstStyle/>
          <a:p>
            <a:fld id="{65E50C32-80DD-483A-A21D-C60932AFD931}" type="slidenum">
              <a:rPr lang="en-NZ" smtClean="0"/>
              <a:t>‹#›</a:t>
            </a:fld>
            <a:endParaRPr lang="en-NZ"/>
          </a:p>
        </p:txBody>
      </p:sp>
    </p:spTree>
    <p:extLst>
      <p:ext uri="{BB962C8B-B14F-4D97-AF65-F5344CB8AC3E}">
        <p14:creationId xmlns:p14="http://schemas.microsoft.com/office/powerpoint/2010/main" val="2108324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F05EF-4674-44EE-9ABF-924BD152BB10}"/>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AE2B2B4A-3FC5-43E4-90CE-AA778127521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4499C206-6371-495D-89CD-377F2D13959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4F2A5194-E4CE-4A0D-BA46-B83F168019B4}"/>
              </a:ext>
            </a:extLst>
          </p:cNvPr>
          <p:cNvSpPr>
            <a:spLocks noGrp="1"/>
          </p:cNvSpPr>
          <p:nvPr>
            <p:ph type="dt" sz="half" idx="10"/>
          </p:nvPr>
        </p:nvSpPr>
        <p:spPr/>
        <p:txBody>
          <a:bodyPr/>
          <a:lstStyle/>
          <a:p>
            <a:fld id="{4C67476A-8C67-401F-A57B-69E5B980B945}" type="datetimeFigureOut">
              <a:rPr lang="en-NZ" smtClean="0"/>
              <a:t>22/05/2024</a:t>
            </a:fld>
            <a:endParaRPr lang="en-NZ"/>
          </a:p>
        </p:txBody>
      </p:sp>
      <p:sp>
        <p:nvSpPr>
          <p:cNvPr id="6" name="Footer Placeholder 5">
            <a:extLst>
              <a:ext uri="{FF2B5EF4-FFF2-40B4-BE49-F238E27FC236}">
                <a16:creationId xmlns:a16="http://schemas.microsoft.com/office/drawing/2014/main" id="{0DAC86B8-A741-4960-B65E-91F475428511}"/>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FF36B2D0-4C5B-4625-BF8D-A9DE5CBEB26D}"/>
              </a:ext>
            </a:extLst>
          </p:cNvPr>
          <p:cNvSpPr>
            <a:spLocks noGrp="1"/>
          </p:cNvSpPr>
          <p:nvPr>
            <p:ph type="sldNum" sz="quarter" idx="12"/>
          </p:nvPr>
        </p:nvSpPr>
        <p:spPr/>
        <p:txBody>
          <a:bodyPr/>
          <a:lstStyle/>
          <a:p>
            <a:fld id="{65E50C32-80DD-483A-A21D-C60932AFD931}" type="slidenum">
              <a:rPr lang="en-NZ" smtClean="0"/>
              <a:t>‹#›</a:t>
            </a:fld>
            <a:endParaRPr lang="en-NZ"/>
          </a:p>
        </p:txBody>
      </p:sp>
    </p:spTree>
    <p:extLst>
      <p:ext uri="{BB962C8B-B14F-4D97-AF65-F5344CB8AC3E}">
        <p14:creationId xmlns:p14="http://schemas.microsoft.com/office/powerpoint/2010/main" val="4274393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B7CD8-25E2-41DB-BA3E-E4CE448E1BD6}"/>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21D6DA20-5467-411A-9FCF-CEE2D18AC3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1C93B06-4CB8-49F6-B65D-3EE421B30D2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DF31BB37-99F0-4EBF-A04C-06D424F2EE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A967287-6F50-493F-ADA2-4A29A166054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29773694-8E0D-487B-BE40-3318A602ACEF}"/>
              </a:ext>
            </a:extLst>
          </p:cNvPr>
          <p:cNvSpPr>
            <a:spLocks noGrp="1"/>
          </p:cNvSpPr>
          <p:nvPr>
            <p:ph type="dt" sz="half" idx="10"/>
          </p:nvPr>
        </p:nvSpPr>
        <p:spPr/>
        <p:txBody>
          <a:bodyPr/>
          <a:lstStyle/>
          <a:p>
            <a:fld id="{4C67476A-8C67-401F-A57B-69E5B980B945}" type="datetimeFigureOut">
              <a:rPr lang="en-NZ" smtClean="0"/>
              <a:t>22/05/2024</a:t>
            </a:fld>
            <a:endParaRPr lang="en-NZ"/>
          </a:p>
        </p:txBody>
      </p:sp>
      <p:sp>
        <p:nvSpPr>
          <p:cNvPr id="8" name="Footer Placeholder 7">
            <a:extLst>
              <a:ext uri="{FF2B5EF4-FFF2-40B4-BE49-F238E27FC236}">
                <a16:creationId xmlns:a16="http://schemas.microsoft.com/office/drawing/2014/main" id="{91A4EC99-E12E-4DAD-A33F-A1F7059CDDA6}"/>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690BEB08-9A9E-4597-BBD5-F2BC0191AAB3}"/>
              </a:ext>
            </a:extLst>
          </p:cNvPr>
          <p:cNvSpPr>
            <a:spLocks noGrp="1"/>
          </p:cNvSpPr>
          <p:nvPr>
            <p:ph type="sldNum" sz="quarter" idx="12"/>
          </p:nvPr>
        </p:nvSpPr>
        <p:spPr/>
        <p:txBody>
          <a:bodyPr/>
          <a:lstStyle/>
          <a:p>
            <a:fld id="{65E50C32-80DD-483A-A21D-C60932AFD931}" type="slidenum">
              <a:rPr lang="en-NZ" smtClean="0"/>
              <a:t>‹#›</a:t>
            </a:fld>
            <a:endParaRPr lang="en-NZ"/>
          </a:p>
        </p:txBody>
      </p:sp>
    </p:spTree>
    <p:extLst>
      <p:ext uri="{BB962C8B-B14F-4D97-AF65-F5344CB8AC3E}">
        <p14:creationId xmlns:p14="http://schemas.microsoft.com/office/powerpoint/2010/main" val="2340747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30F10-240E-4E45-B2E6-D5D713D815B7}"/>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84F3F5EA-E6CF-48ED-9627-333951745D59}"/>
              </a:ext>
            </a:extLst>
          </p:cNvPr>
          <p:cNvSpPr>
            <a:spLocks noGrp="1"/>
          </p:cNvSpPr>
          <p:nvPr>
            <p:ph type="dt" sz="half" idx="10"/>
          </p:nvPr>
        </p:nvSpPr>
        <p:spPr/>
        <p:txBody>
          <a:bodyPr/>
          <a:lstStyle/>
          <a:p>
            <a:fld id="{4C67476A-8C67-401F-A57B-69E5B980B945}" type="datetimeFigureOut">
              <a:rPr lang="en-NZ" smtClean="0"/>
              <a:t>22/05/2024</a:t>
            </a:fld>
            <a:endParaRPr lang="en-NZ"/>
          </a:p>
        </p:txBody>
      </p:sp>
      <p:sp>
        <p:nvSpPr>
          <p:cNvPr id="4" name="Footer Placeholder 3">
            <a:extLst>
              <a:ext uri="{FF2B5EF4-FFF2-40B4-BE49-F238E27FC236}">
                <a16:creationId xmlns:a16="http://schemas.microsoft.com/office/drawing/2014/main" id="{F68C3E4D-60BE-40CE-B70D-3E54D76712D3}"/>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93D3DD13-409D-4263-9B9F-236A4129A8D5}"/>
              </a:ext>
            </a:extLst>
          </p:cNvPr>
          <p:cNvSpPr>
            <a:spLocks noGrp="1"/>
          </p:cNvSpPr>
          <p:nvPr>
            <p:ph type="sldNum" sz="quarter" idx="12"/>
          </p:nvPr>
        </p:nvSpPr>
        <p:spPr/>
        <p:txBody>
          <a:bodyPr/>
          <a:lstStyle/>
          <a:p>
            <a:fld id="{65E50C32-80DD-483A-A21D-C60932AFD931}" type="slidenum">
              <a:rPr lang="en-NZ" smtClean="0"/>
              <a:t>‹#›</a:t>
            </a:fld>
            <a:endParaRPr lang="en-NZ"/>
          </a:p>
        </p:txBody>
      </p:sp>
    </p:spTree>
    <p:extLst>
      <p:ext uri="{BB962C8B-B14F-4D97-AF65-F5344CB8AC3E}">
        <p14:creationId xmlns:p14="http://schemas.microsoft.com/office/powerpoint/2010/main" val="1825220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968D3A-6579-4526-A7B1-6FC0C56463B9}"/>
              </a:ext>
            </a:extLst>
          </p:cNvPr>
          <p:cNvSpPr>
            <a:spLocks noGrp="1"/>
          </p:cNvSpPr>
          <p:nvPr>
            <p:ph type="dt" sz="half" idx="10"/>
          </p:nvPr>
        </p:nvSpPr>
        <p:spPr/>
        <p:txBody>
          <a:bodyPr/>
          <a:lstStyle/>
          <a:p>
            <a:fld id="{4C67476A-8C67-401F-A57B-69E5B980B945}" type="datetimeFigureOut">
              <a:rPr lang="en-NZ" smtClean="0"/>
              <a:t>22/05/2024</a:t>
            </a:fld>
            <a:endParaRPr lang="en-NZ"/>
          </a:p>
        </p:txBody>
      </p:sp>
      <p:sp>
        <p:nvSpPr>
          <p:cNvPr id="3" name="Footer Placeholder 2">
            <a:extLst>
              <a:ext uri="{FF2B5EF4-FFF2-40B4-BE49-F238E27FC236}">
                <a16:creationId xmlns:a16="http://schemas.microsoft.com/office/drawing/2014/main" id="{7D8CF0AF-C580-4EE0-9A71-C5AD9DFA8372}"/>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FD2C8463-3060-4256-9EEF-8F9179C9CB92}"/>
              </a:ext>
            </a:extLst>
          </p:cNvPr>
          <p:cNvSpPr>
            <a:spLocks noGrp="1"/>
          </p:cNvSpPr>
          <p:nvPr>
            <p:ph type="sldNum" sz="quarter" idx="12"/>
          </p:nvPr>
        </p:nvSpPr>
        <p:spPr/>
        <p:txBody>
          <a:bodyPr/>
          <a:lstStyle/>
          <a:p>
            <a:fld id="{65E50C32-80DD-483A-A21D-C60932AFD931}" type="slidenum">
              <a:rPr lang="en-NZ" smtClean="0"/>
              <a:t>‹#›</a:t>
            </a:fld>
            <a:endParaRPr lang="en-NZ"/>
          </a:p>
        </p:txBody>
      </p:sp>
    </p:spTree>
    <p:extLst>
      <p:ext uri="{BB962C8B-B14F-4D97-AF65-F5344CB8AC3E}">
        <p14:creationId xmlns:p14="http://schemas.microsoft.com/office/powerpoint/2010/main" val="4091499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178DE-4096-49A8-B833-8769AB3D83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F11580EF-1282-4716-ADEF-A3D4FF1896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F00512DF-F4EC-4EF9-A26D-E3EC34BFF3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C7B4847-5F56-408B-B166-A5348D532B0F}"/>
              </a:ext>
            </a:extLst>
          </p:cNvPr>
          <p:cNvSpPr>
            <a:spLocks noGrp="1"/>
          </p:cNvSpPr>
          <p:nvPr>
            <p:ph type="dt" sz="half" idx="10"/>
          </p:nvPr>
        </p:nvSpPr>
        <p:spPr/>
        <p:txBody>
          <a:bodyPr/>
          <a:lstStyle/>
          <a:p>
            <a:fld id="{4C67476A-8C67-401F-A57B-69E5B980B945}" type="datetimeFigureOut">
              <a:rPr lang="en-NZ" smtClean="0"/>
              <a:t>22/05/2024</a:t>
            </a:fld>
            <a:endParaRPr lang="en-NZ"/>
          </a:p>
        </p:txBody>
      </p:sp>
      <p:sp>
        <p:nvSpPr>
          <p:cNvPr id="6" name="Footer Placeholder 5">
            <a:extLst>
              <a:ext uri="{FF2B5EF4-FFF2-40B4-BE49-F238E27FC236}">
                <a16:creationId xmlns:a16="http://schemas.microsoft.com/office/drawing/2014/main" id="{8AF8BA19-569D-4BE4-8CF8-CF0DCDFC4E41}"/>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B2643FDD-2F9F-4D7F-BE92-06DEA95F16BA}"/>
              </a:ext>
            </a:extLst>
          </p:cNvPr>
          <p:cNvSpPr>
            <a:spLocks noGrp="1"/>
          </p:cNvSpPr>
          <p:nvPr>
            <p:ph type="sldNum" sz="quarter" idx="12"/>
          </p:nvPr>
        </p:nvSpPr>
        <p:spPr/>
        <p:txBody>
          <a:bodyPr/>
          <a:lstStyle/>
          <a:p>
            <a:fld id="{65E50C32-80DD-483A-A21D-C60932AFD931}" type="slidenum">
              <a:rPr lang="en-NZ" smtClean="0"/>
              <a:t>‹#›</a:t>
            </a:fld>
            <a:endParaRPr lang="en-NZ"/>
          </a:p>
        </p:txBody>
      </p:sp>
    </p:spTree>
    <p:extLst>
      <p:ext uri="{BB962C8B-B14F-4D97-AF65-F5344CB8AC3E}">
        <p14:creationId xmlns:p14="http://schemas.microsoft.com/office/powerpoint/2010/main" val="2825316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2A366-2FFF-40B3-A67E-9C93A001F2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5488DD62-5648-45B0-974A-D0A9CDA360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38E359DF-2242-4BC4-B543-B7CDC8C88F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5688BD1-16C6-443A-AD83-BFEC6861272D}"/>
              </a:ext>
            </a:extLst>
          </p:cNvPr>
          <p:cNvSpPr>
            <a:spLocks noGrp="1"/>
          </p:cNvSpPr>
          <p:nvPr>
            <p:ph type="dt" sz="half" idx="10"/>
          </p:nvPr>
        </p:nvSpPr>
        <p:spPr/>
        <p:txBody>
          <a:bodyPr/>
          <a:lstStyle/>
          <a:p>
            <a:fld id="{4C67476A-8C67-401F-A57B-69E5B980B945}" type="datetimeFigureOut">
              <a:rPr lang="en-NZ" smtClean="0"/>
              <a:t>22/05/2024</a:t>
            </a:fld>
            <a:endParaRPr lang="en-NZ"/>
          </a:p>
        </p:txBody>
      </p:sp>
      <p:sp>
        <p:nvSpPr>
          <p:cNvPr id="6" name="Footer Placeholder 5">
            <a:extLst>
              <a:ext uri="{FF2B5EF4-FFF2-40B4-BE49-F238E27FC236}">
                <a16:creationId xmlns:a16="http://schemas.microsoft.com/office/drawing/2014/main" id="{18ADDF41-5937-4281-8EAE-59F7BBB03E27}"/>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17FCC73C-E002-4A5D-8650-CBED0C62F7F0}"/>
              </a:ext>
            </a:extLst>
          </p:cNvPr>
          <p:cNvSpPr>
            <a:spLocks noGrp="1"/>
          </p:cNvSpPr>
          <p:nvPr>
            <p:ph type="sldNum" sz="quarter" idx="12"/>
          </p:nvPr>
        </p:nvSpPr>
        <p:spPr/>
        <p:txBody>
          <a:bodyPr/>
          <a:lstStyle/>
          <a:p>
            <a:fld id="{65E50C32-80DD-483A-A21D-C60932AFD931}" type="slidenum">
              <a:rPr lang="en-NZ" smtClean="0"/>
              <a:t>‹#›</a:t>
            </a:fld>
            <a:endParaRPr lang="en-NZ"/>
          </a:p>
        </p:txBody>
      </p:sp>
    </p:spTree>
    <p:extLst>
      <p:ext uri="{BB962C8B-B14F-4D97-AF65-F5344CB8AC3E}">
        <p14:creationId xmlns:p14="http://schemas.microsoft.com/office/powerpoint/2010/main" val="482269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393AF-D9E5-4980-B72E-A50C0B642C92}"/>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73111B39-345A-417D-AB48-061335A192A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BDF134A8-C680-4953-8644-5EC625EDD160}"/>
              </a:ext>
            </a:extLst>
          </p:cNvPr>
          <p:cNvSpPr>
            <a:spLocks noGrp="1"/>
          </p:cNvSpPr>
          <p:nvPr>
            <p:ph type="dt" sz="half" idx="10"/>
          </p:nvPr>
        </p:nvSpPr>
        <p:spPr/>
        <p:txBody>
          <a:bodyPr/>
          <a:lstStyle/>
          <a:p>
            <a:fld id="{4C67476A-8C67-401F-A57B-69E5B980B945}" type="datetimeFigureOut">
              <a:rPr lang="en-NZ" smtClean="0"/>
              <a:t>22/05/2024</a:t>
            </a:fld>
            <a:endParaRPr lang="en-NZ"/>
          </a:p>
        </p:txBody>
      </p:sp>
      <p:sp>
        <p:nvSpPr>
          <p:cNvPr id="5" name="Footer Placeholder 4">
            <a:extLst>
              <a:ext uri="{FF2B5EF4-FFF2-40B4-BE49-F238E27FC236}">
                <a16:creationId xmlns:a16="http://schemas.microsoft.com/office/drawing/2014/main" id="{45A91970-2A38-4C36-9D2C-E46D3BFB68A6}"/>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583F1889-E855-4D4E-BA30-5F8EA4FE26A9}"/>
              </a:ext>
            </a:extLst>
          </p:cNvPr>
          <p:cNvSpPr>
            <a:spLocks noGrp="1"/>
          </p:cNvSpPr>
          <p:nvPr>
            <p:ph type="sldNum" sz="quarter" idx="12"/>
          </p:nvPr>
        </p:nvSpPr>
        <p:spPr/>
        <p:txBody>
          <a:bodyPr/>
          <a:lstStyle/>
          <a:p>
            <a:fld id="{65E50C32-80DD-483A-A21D-C60932AFD931}" type="slidenum">
              <a:rPr lang="en-NZ" smtClean="0"/>
              <a:t>‹#›</a:t>
            </a:fld>
            <a:endParaRPr lang="en-NZ"/>
          </a:p>
        </p:txBody>
      </p:sp>
    </p:spTree>
    <p:extLst>
      <p:ext uri="{BB962C8B-B14F-4D97-AF65-F5344CB8AC3E}">
        <p14:creationId xmlns:p14="http://schemas.microsoft.com/office/powerpoint/2010/main" val="86170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8F7A2FB-6B58-4A09-B2A1-046758DEA0D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9E9F4537-0260-408B-90D7-AC31D33B683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7E7CA567-F953-4416-A0FE-24013200CF17}"/>
              </a:ext>
            </a:extLst>
          </p:cNvPr>
          <p:cNvSpPr>
            <a:spLocks noGrp="1"/>
          </p:cNvSpPr>
          <p:nvPr>
            <p:ph type="dt" sz="half" idx="10"/>
          </p:nvPr>
        </p:nvSpPr>
        <p:spPr/>
        <p:txBody>
          <a:bodyPr/>
          <a:lstStyle/>
          <a:p>
            <a:fld id="{4C67476A-8C67-401F-A57B-69E5B980B945}" type="datetimeFigureOut">
              <a:rPr lang="en-NZ" smtClean="0"/>
              <a:t>22/05/2024</a:t>
            </a:fld>
            <a:endParaRPr lang="en-NZ"/>
          </a:p>
        </p:txBody>
      </p:sp>
      <p:sp>
        <p:nvSpPr>
          <p:cNvPr id="5" name="Footer Placeholder 4">
            <a:extLst>
              <a:ext uri="{FF2B5EF4-FFF2-40B4-BE49-F238E27FC236}">
                <a16:creationId xmlns:a16="http://schemas.microsoft.com/office/drawing/2014/main" id="{CCC396E8-F79D-483B-8F7E-0A924F9EA94E}"/>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63C29B4A-4BE0-415E-B213-E42B41D8D556}"/>
              </a:ext>
            </a:extLst>
          </p:cNvPr>
          <p:cNvSpPr>
            <a:spLocks noGrp="1"/>
          </p:cNvSpPr>
          <p:nvPr>
            <p:ph type="sldNum" sz="quarter" idx="12"/>
          </p:nvPr>
        </p:nvSpPr>
        <p:spPr/>
        <p:txBody>
          <a:bodyPr/>
          <a:lstStyle/>
          <a:p>
            <a:fld id="{65E50C32-80DD-483A-A21D-C60932AFD931}" type="slidenum">
              <a:rPr lang="en-NZ" smtClean="0"/>
              <a:t>‹#›</a:t>
            </a:fld>
            <a:endParaRPr lang="en-NZ"/>
          </a:p>
        </p:txBody>
      </p:sp>
    </p:spTree>
    <p:extLst>
      <p:ext uri="{BB962C8B-B14F-4D97-AF65-F5344CB8AC3E}">
        <p14:creationId xmlns:p14="http://schemas.microsoft.com/office/powerpoint/2010/main" val="3941804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9B60D2-EC9A-4194-9993-ECD504D114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A6D2CD85-C6C3-4F1E-8777-AB47E35F9B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EF8A4EC5-E9EC-44EF-A007-C4797A9F81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67476A-8C67-401F-A57B-69E5B980B945}" type="datetimeFigureOut">
              <a:rPr lang="en-NZ" smtClean="0"/>
              <a:t>22/05/2024</a:t>
            </a:fld>
            <a:endParaRPr lang="en-NZ"/>
          </a:p>
        </p:txBody>
      </p:sp>
      <p:sp>
        <p:nvSpPr>
          <p:cNvPr id="5" name="Footer Placeholder 4">
            <a:extLst>
              <a:ext uri="{FF2B5EF4-FFF2-40B4-BE49-F238E27FC236}">
                <a16:creationId xmlns:a16="http://schemas.microsoft.com/office/drawing/2014/main" id="{E1D241EE-96BE-4EF8-92F0-84548684B7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A956446B-8EE2-48CD-AB79-B581CAE907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E50C32-80DD-483A-A21D-C60932AFD931}" type="slidenum">
              <a:rPr lang="en-NZ" smtClean="0"/>
              <a:t>‹#›</a:t>
            </a:fld>
            <a:endParaRPr lang="en-NZ"/>
          </a:p>
        </p:txBody>
      </p:sp>
    </p:spTree>
    <p:extLst>
      <p:ext uri="{BB962C8B-B14F-4D97-AF65-F5344CB8AC3E}">
        <p14:creationId xmlns:p14="http://schemas.microsoft.com/office/powerpoint/2010/main" val="10381702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9.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image" Target="../media/image10.emf"/><Relationship Id="rId7" Type="http://schemas.openxmlformats.org/officeDocument/2006/relationships/image" Target="../media/image14.emf"/><Relationship Id="rId2" Type="http://schemas.openxmlformats.org/officeDocument/2006/relationships/image" Target="../media/image9.emf"/><Relationship Id="rId1" Type="http://schemas.openxmlformats.org/officeDocument/2006/relationships/slideLayout" Target="../slideLayouts/slideLayout2.xml"/><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image" Target="../media/image11.emf"/></Relationships>
</file>

<file path=ppt/slides/_rels/slide10.xml.rels><?xml version="1.0" encoding="UTF-8" standalone="yes"?>
<Relationships xmlns="http://schemas.openxmlformats.org/package/2006/relationships"><Relationship Id="rId2" Type="http://schemas.openxmlformats.org/officeDocument/2006/relationships/hyperlink" Target="https://web.stanford.edu/~boyd/lmibook/lmibook.pdf"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image" Target="../media/image17.emf"/><Relationship Id="rId7" Type="http://schemas.openxmlformats.org/officeDocument/2006/relationships/image" Target="../media/image21.emf"/><Relationship Id="rId12" Type="http://schemas.openxmlformats.org/officeDocument/2006/relationships/image" Target="../media/image26.emf"/><Relationship Id="rId2" Type="http://schemas.openxmlformats.org/officeDocument/2006/relationships/image" Target="../media/image16.emf"/><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emf"/><Relationship Id="rId5" Type="http://schemas.openxmlformats.org/officeDocument/2006/relationships/image" Target="../media/image19.emf"/><Relationship Id="rId10" Type="http://schemas.openxmlformats.org/officeDocument/2006/relationships/image" Target="../media/image24.emf"/><Relationship Id="rId4" Type="http://schemas.openxmlformats.org/officeDocument/2006/relationships/image" Target="../media/image18.emf"/><Relationship Id="rId9" Type="http://schemas.openxmlformats.org/officeDocument/2006/relationships/image" Target="../media/image23.emf"/></Relationships>
</file>

<file path=ppt/slides/_rels/slide12.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2.xml"/><Relationship Id="rId6" Type="http://schemas.openxmlformats.org/officeDocument/2006/relationships/image" Target="../media/image31.emf"/><Relationship Id="rId5" Type="http://schemas.openxmlformats.org/officeDocument/2006/relationships/image" Target="../media/image30.emf"/><Relationship Id="rId4" Type="http://schemas.openxmlformats.org/officeDocument/2006/relationships/image" Target="../media/image2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272E7-1F5B-4013-9F51-FE175F366D42}"/>
              </a:ext>
            </a:extLst>
          </p:cNvPr>
          <p:cNvSpPr>
            <a:spLocks noGrp="1"/>
          </p:cNvSpPr>
          <p:nvPr>
            <p:ph type="ctrTitle"/>
          </p:nvPr>
        </p:nvSpPr>
        <p:spPr/>
        <p:txBody>
          <a:bodyPr/>
          <a:lstStyle/>
          <a:p>
            <a:r>
              <a:rPr lang="en-NZ" dirty="0"/>
              <a:t>Optimisation in my research</a:t>
            </a:r>
          </a:p>
        </p:txBody>
      </p:sp>
      <p:sp>
        <p:nvSpPr>
          <p:cNvPr id="3" name="Subtitle 2">
            <a:extLst>
              <a:ext uri="{FF2B5EF4-FFF2-40B4-BE49-F238E27FC236}">
                <a16:creationId xmlns:a16="http://schemas.microsoft.com/office/drawing/2014/main" id="{DB409DEE-D5CD-40F2-9F7C-7CDF829ADA42}"/>
              </a:ext>
            </a:extLst>
          </p:cNvPr>
          <p:cNvSpPr>
            <a:spLocks noGrp="1"/>
          </p:cNvSpPr>
          <p:nvPr>
            <p:ph type="subTitle" idx="1"/>
          </p:nvPr>
        </p:nvSpPr>
        <p:spPr/>
        <p:txBody>
          <a:bodyPr/>
          <a:lstStyle/>
          <a:p>
            <a:r>
              <a:rPr lang="en-NZ" dirty="0"/>
              <a:t>Jeremy Watson</a:t>
            </a:r>
          </a:p>
        </p:txBody>
      </p:sp>
    </p:spTree>
    <p:extLst>
      <p:ext uri="{BB962C8B-B14F-4D97-AF65-F5344CB8AC3E}">
        <p14:creationId xmlns:p14="http://schemas.microsoft.com/office/powerpoint/2010/main" val="534074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2358-538D-41D5-9F52-0DB864A3D180}"/>
              </a:ext>
            </a:extLst>
          </p:cNvPr>
          <p:cNvSpPr>
            <a:spLocks noGrp="1"/>
          </p:cNvSpPr>
          <p:nvPr>
            <p:ph type="title"/>
          </p:nvPr>
        </p:nvSpPr>
        <p:spPr/>
        <p:txBody>
          <a:bodyPr/>
          <a:lstStyle/>
          <a:p>
            <a:r>
              <a:rPr lang="en-NZ" dirty="0"/>
              <a:t>Overview</a:t>
            </a:r>
          </a:p>
        </p:txBody>
      </p:sp>
      <p:sp>
        <p:nvSpPr>
          <p:cNvPr id="3" name="Content Placeholder 2">
            <a:extLst>
              <a:ext uri="{FF2B5EF4-FFF2-40B4-BE49-F238E27FC236}">
                <a16:creationId xmlns:a16="http://schemas.microsoft.com/office/drawing/2014/main" id="{8A6654F6-6839-40C7-AF0B-E9DB08B2EF6F}"/>
              </a:ext>
            </a:extLst>
          </p:cNvPr>
          <p:cNvSpPr>
            <a:spLocks noGrp="1"/>
          </p:cNvSpPr>
          <p:nvPr>
            <p:ph idx="1"/>
          </p:nvPr>
        </p:nvSpPr>
        <p:spPr>
          <a:xfrm>
            <a:off x="838200" y="1825625"/>
            <a:ext cx="10515600" cy="4351338"/>
          </a:xfrm>
        </p:spPr>
        <p:txBody>
          <a:bodyPr/>
          <a:lstStyle/>
          <a:p>
            <a:r>
              <a:rPr lang="en-NZ" dirty="0"/>
              <a:t>My research has used optimisation in a number of ways:</a:t>
            </a:r>
          </a:p>
          <a:p>
            <a:pPr lvl="1"/>
            <a:r>
              <a:rPr lang="en-NZ" b="1" dirty="0"/>
              <a:t>Distributed optimisation and control algorithms for power systems (main focus today)</a:t>
            </a:r>
          </a:p>
          <a:p>
            <a:pPr lvl="1"/>
            <a:endParaRPr lang="en-NZ" b="1" dirty="0"/>
          </a:p>
          <a:p>
            <a:pPr lvl="1"/>
            <a:r>
              <a:rPr lang="en-NZ" dirty="0"/>
              <a:t>Linear Matrix Inequalities (LMIs) for control synthesis*</a:t>
            </a:r>
          </a:p>
          <a:p>
            <a:pPr lvl="1"/>
            <a:r>
              <a:rPr lang="en-NZ" dirty="0"/>
              <a:t>Optimal power-flow in </a:t>
            </a:r>
            <a:r>
              <a:rPr lang="en-NZ" i="1" dirty="0"/>
              <a:t>unbalanced</a:t>
            </a:r>
            <a:r>
              <a:rPr lang="en-NZ" dirty="0"/>
              <a:t> low-voltage distribution networks*</a:t>
            </a:r>
          </a:p>
          <a:p>
            <a:pPr marL="457200" lvl="1" indent="0">
              <a:buNone/>
            </a:pPr>
            <a:endParaRPr lang="en-NZ" b="1" dirty="0"/>
          </a:p>
          <a:p>
            <a:pPr lvl="1"/>
            <a:endParaRPr lang="en-NZ" dirty="0"/>
          </a:p>
        </p:txBody>
      </p:sp>
      <p:sp>
        <p:nvSpPr>
          <p:cNvPr id="5" name="TextBox 4">
            <a:extLst>
              <a:ext uri="{FF2B5EF4-FFF2-40B4-BE49-F238E27FC236}">
                <a16:creationId xmlns:a16="http://schemas.microsoft.com/office/drawing/2014/main" id="{FCDEF0AA-56CC-5362-B07E-4F01952A7B89}"/>
              </a:ext>
            </a:extLst>
          </p:cNvPr>
          <p:cNvSpPr txBox="1"/>
          <p:nvPr/>
        </p:nvSpPr>
        <p:spPr>
          <a:xfrm>
            <a:off x="778042" y="5297724"/>
            <a:ext cx="6096000" cy="369332"/>
          </a:xfrm>
          <a:prstGeom prst="rect">
            <a:avLst/>
          </a:prstGeom>
          <a:noFill/>
        </p:spPr>
        <p:txBody>
          <a:bodyPr wrap="square">
            <a:spAutoFit/>
          </a:bodyPr>
          <a:lstStyle/>
          <a:p>
            <a:pPr lvl="1"/>
            <a:r>
              <a:rPr lang="en-NZ" dirty="0"/>
              <a:t>(*slides at the end if anyone is interested)</a:t>
            </a:r>
          </a:p>
        </p:txBody>
      </p:sp>
    </p:spTree>
    <p:extLst>
      <p:ext uri="{BB962C8B-B14F-4D97-AF65-F5344CB8AC3E}">
        <p14:creationId xmlns:p14="http://schemas.microsoft.com/office/powerpoint/2010/main" val="3001682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3FC6F-DBAE-4CF6-A77A-2EE457777EB1}"/>
              </a:ext>
            </a:extLst>
          </p:cNvPr>
          <p:cNvSpPr>
            <a:spLocks noGrp="1"/>
          </p:cNvSpPr>
          <p:nvPr>
            <p:ph type="title"/>
          </p:nvPr>
        </p:nvSpPr>
        <p:spPr/>
        <p:txBody>
          <a:bodyPr/>
          <a:lstStyle/>
          <a:p>
            <a:r>
              <a:rPr lang="en-NZ" dirty="0"/>
              <a:t>Distributed optimisation / control </a:t>
            </a:r>
          </a:p>
        </p:txBody>
      </p:sp>
      <p:sp>
        <p:nvSpPr>
          <p:cNvPr id="3" name="Content Placeholder 2">
            <a:extLst>
              <a:ext uri="{FF2B5EF4-FFF2-40B4-BE49-F238E27FC236}">
                <a16:creationId xmlns:a16="http://schemas.microsoft.com/office/drawing/2014/main" id="{444777A9-B2CC-47CC-80B2-FBB5A55196A0}"/>
              </a:ext>
            </a:extLst>
          </p:cNvPr>
          <p:cNvSpPr>
            <a:spLocks noGrp="1"/>
          </p:cNvSpPr>
          <p:nvPr>
            <p:ph idx="1"/>
          </p:nvPr>
        </p:nvSpPr>
        <p:spPr/>
        <p:txBody>
          <a:bodyPr>
            <a:normAutofit lnSpcReduction="10000"/>
          </a:bodyPr>
          <a:lstStyle/>
          <a:p>
            <a:r>
              <a:rPr lang="en-NZ" dirty="0"/>
              <a:t>Main idea: </a:t>
            </a:r>
          </a:p>
          <a:p>
            <a:pPr lvl="1"/>
            <a:r>
              <a:rPr lang="en-NZ" dirty="0"/>
              <a:t>each agent / device / system controls its own variables (typically state variables of that system which are also design variables of an optimisation problem) </a:t>
            </a:r>
          </a:p>
          <a:p>
            <a:pPr lvl="1"/>
            <a:r>
              <a:rPr lang="en-NZ" dirty="0"/>
              <a:t>by low band-width, distributed communication with other local agents, these variables are updated until the global optimisation problem is solved.</a:t>
            </a:r>
          </a:p>
          <a:p>
            <a:pPr lvl="1"/>
            <a:r>
              <a:rPr lang="en-NZ" dirty="0"/>
              <a:t>this can allow large-scale optimisation problems to be solved automatically by simple controllers at each device as opposed to solving the problem centrally at high computational cost and broadcasting the solution to each device. </a:t>
            </a:r>
          </a:p>
          <a:p>
            <a:pPr lvl="1"/>
            <a:r>
              <a:rPr lang="en-NZ" dirty="0"/>
              <a:t>already used (wide range of applications) in industry, although not especially common. </a:t>
            </a:r>
          </a:p>
          <a:p>
            <a:pPr lvl="1"/>
            <a:r>
              <a:rPr lang="en-NZ" dirty="0"/>
              <a:t>potential applications (mostly in the future) include coordination of UAVs, self-driving vehicle platoons, smart grid, etc.</a:t>
            </a:r>
          </a:p>
          <a:p>
            <a:endParaRPr lang="en-NZ" dirty="0"/>
          </a:p>
        </p:txBody>
      </p:sp>
    </p:spTree>
    <p:extLst>
      <p:ext uri="{BB962C8B-B14F-4D97-AF65-F5344CB8AC3E}">
        <p14:creationId xmlns:p14="http://schemas.microsoft.com/office/powerpoint/2010/main" val="1950992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94C0C-A2B7-CB61-27D0-C8F71D0EEDDD}"/>
              </a:ext>
            </a:extLst>
          </p:cNvPr>
          <p:cNvSpPr>
            <a:spLocks noGrp="1"/>
          </p:cNvSpPr>
          <p:nvPr>
            <p:ph type="title"/>
          </p:nvPr>
        </p:nvSpPr>
        <p:spPr/>
        <p:txBody>
          <a:bodyPr/>
          <a:lstStyle/>
          <a:p>
            <a:r>
              <a:rPr lang="en-US" dirty="0"/>
              <a:t>Distributed optimization / control</a:t>
            </a:r>
            <a:endParaRPr lang="en-GB" dirty="0"/>
          </a:p>
        </p:txBody>
      </p:sp>
      <p:sp>
        <p:nvSpPr>
          <p:cNvPr id="3" name="Content Placeholder 2">
            <a:extLst>
              <a:ext uri="{FF2B5EF4-FFF2-40B4-BE49-F238E27FC236}">
                <a16:creationId xmlns:a16="http://schemas.microsoft.com/office/drawing/2014/main" id="{BA55064A-D8E2-C4EC-47E5-FD851BD64287}"/>
              </a:ext>
            </a:extLst>
          </p:cNvPr>
          <p:cNvSpPr>
            <a:spLocks noGrp="1"/>
          </p:cNvSpPr>
          <p:nvPr>
            <p:ph idx="1"/>
          </p:nvPr>
        </p:nvSpPr>
        <p:spPr/>
        <p:txBody>
          <a:bodyPr>
            <a:normAutofit/>
          </a:bodyPr>
          <a:lstStyle/>
          <a:p>
            <a:r>
              <a:rPr lang="en-US" dirty="0"/>
              <a:t>Research areas:</a:t>
            </a:r>
          </a:p>
          <a:p>
            <a:pPr lvl="1"/>
            <a:r>
              <a:rPr lang="en-US" dirty="0"/>
              <a:t>Improving convergence rates and properties (e.g. ADMM is one of the best recent algorithms)</a:t>
            </a:r>
          </a:p>
          <a:p>
            <a:pPr lvl="1"/>
            <a:r>
              <a:rPr lang="en-US" dirty="0"/>
              <a:t>Coping with enforced dynamics in each agent. Agents typically have their own application-specific dynamics which may not be easy to control.</a:t>
            </a:r>
          </a:p>
          <a:p>
            <a:pPr lvl="1"/>
            <a:r>
              <a:rPr lang="en-US" dirty="0"/>
              <a:t>Cyber-security – what happens if one or more devices are adversely controlled or deliberating send false data?</a:t>
            </a:r>
          </a:p>
          <a:p>
            <a:pPr lvl="1"/>
            <a:r>
              <a:rPr lang="en-US" dirty="0"/>
              <a:t>Coping with time delays and/or noise in communication</a:t>
            </a:r>
          </a:p>
          <a:p>
            <a:pPr lvl="1"/>
            <a:r>
              <a:rPr lang="en-US" dirty="0"/>
              <a:t>Stochastic networks – i.e. random communication failures, etc. – what can the distributed </a:t>
            </a:r>
          </a:p>
          <a:p>
            <a:pPr lvl="1"/>
            <a:r>
              <a:rPr lang="en-US" dirty="0"/>
              <a:t>Hybrid approaches using some form of reinforcement learning as well.</a:t>
            </a:r>
            <a:endParaRPr lang="en-GB" dirty="0"/>
          </a:p>
        </p:txBody>
      </p:sp>
    </p:spTree>
    <p:extLst>
      <p:ext uri="{BB962C8B-B14F-4D97-AF65-F5344CB8AC3E}">
        <p14:creationId xmlns:p14="http://schemas.microsoft.com/office/powerpoint/2010/main" val="1442004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5AD8C-B6DD-6CD1-460A-EC14F7769F2B}"/>
              </a:ext>
            </a:extLst>
          </p:cNvPr>
          <p:cNvSpPr>
            <a:spLocks noGrp="1"/>
          </p:cNvSpPr>
          <p:nvPr>
            <p:ph type="title"/>
          </p:nvPr>
        </p:nvSpPr>
        <p:spPr/>
        <p:txBody>
          <a:bodyPr/>
          <a:lstStyle/>
          <a:p>
            <a:r>
              <a:rPr lang="en-NZ" dirty="0"/>
              <a:t>Application to power systems</a:t>
            </a:r>
            <a:endParaRPr lang="en-GB" dirty="0"/>
          </a:p>
        </p:txBody>
      </p:sp>
      <p:sp>
        <p:nvSpPr>
          <p:cNvPr id="3" name="Content Placeholder 2">
            <a:extLst>
              <a:ext uri="{FF2B5EF4-FFF2-40B4-BE49-F238E27FC236}">
                <a16:creationId xmlns:a16="http://schemas.microsoft.com/office/drawing/2014/main" id="{32E4EB70-376F-6C1A-1E52-355FBAE7943B}"/>
              </a:ext>
            </a:extLst>
          </p:cNvPr>
          <p:cNvSpPr>
            <a:spLocks noGrp="1"/>
          </p:cNvSpPr>
          <p:nvPr>
            <p:ph idx="1"/>
          </p:nvPr>
        </p:nvSpPr>
        <p:spPr/>
        <p:txBody>
          <a:bodyPr/>
          <a:lstStyle/>
          <a:p>
            <a:r>
              <a:rPr lang="en-NZ" dirty="0"/>
              <a:t>replace optimal power-flow and frequency control with distributed optimisation &amp; control</a:t>
            </a:r>
          </a:p>
          <a:p>
            <a:r>
              <a:rPr lang="en-NZ" dirty="0"/>
              <a:t>each generator has a controller that guides its power setpoints to the (true) OPF setpoint, based on communication with neighbours.</a:t>
            </a:r>
          </a:p>
          <a:p>
            <a:r>
              <a:rPr lang="en-NZ" dirty="0"/>
              <a:t>not really needed in the power system of today, but potential for implementation in future grids / microgrids</a:t>
            </a:r>
          </a:p>
          <a:p>
            <a:endParaRPr lang="en-GB" dirty="0"/>
          </a:p>
        </p:txBody>
      </p:sp>
    </p:spTree>
    <p:extLst>
      <p:ext uri="{BB962C8B-B14F-4D97-AF65-F5344CB8AC3E}">
        <p14:creationId xmlns:p14="http://schemas.microsoft.com/office/powerpoint/2010/main" val="3333904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63CF62-9690-080D-75BF-F9F01BC04BD7}"/>
              </a:ext>
            </a:extLst>
          </p:cNvPr>
          <p:cNvSpPr>
            <a:spLocks noGrp="1"/>
          </p:cNvSpPr>
          <p:nvPr>
            <p:ph idx="1"/>
          </p:nvPr>
        </p:nvSpPr>
        <p:spPr/>
        <p:txBody>
          <a:bodyPr/>
          <a:lstStyle/>
          <a:p>
            <a:r>
              <a:rPr lang="en-US" dirty="0"/>
              <a:t>Consider a separable cost function for a network of agents</a:t>
            </a:r>
          </a:p>
          <a:p>
            <a:endParaRPr lang="en-US" dirty="0"/>
          </a:p>
          <a:p>
            <a:endParaRPr lang="en-US" dirty="0"/>
          </a:p>
          <a:p>
            <a:endParaRPr lang="en-US" dirty="0"/>
          </a:p>
          <a:p>
            <a:r>
              <a:rPr lang="en-US" dirty="0"/>
              <a:t>Constraint: at steady-state, each agent must have the same value of the state variable (this is called a </a:t>
            </a:r>
            <a:r>
              <a:rPr lang="en-US" i="1" dirty="0"/>
              <a:t>consensus</a:t>
            </a:r>
            <a:r>
              <a:rPr lang="en-US" dirty="0"/>
              <a:t> problem). Typically this is something like a market price or (scaled) power output, etc.</a:t>
            </a:r>
            <a:endParaRPr lang="en-GB" dirty="0"/>
          </a:p>
        </p:txBody>
      </p:sp>
      <p:sp>
        <p:nvSpPr>
          <p:cNvPr id="2" name="Title 1">
            <a:extLst>
              <a:ext uri="{FF2B5EF4-FFF2-40B4-BE49-F238E27FC236}">
                <a16:creationId xmlns:a16="http://schemas.microsoft.com/office/drawing/2014/main" id="{2A27D11F-4B29-71F8-D4AC-2AAABE459411}"/>
              </a:ext>
            </a:extLst>
          </p:cNvPr>
          <p:cNvSpPr>
            <a:spLocks noGrp="1"/>
          </p:cNvSpPr>
          <p:nvPr>
            <p:ph type="title"/>
          </p:nvPr>
        </p:nvSpPr>
        <p:spPr/>
        <p:txBody>
          <a:bodyPr/>
          <a:lstStyle/>
          <a:p>
            <a:r>
              <a:rPr lang="en-US" dirty="0"/>
              <a:t>Intro to distributed </a:t>
            </a:r>
            <a:r>
              <a:rPr lang="en-US" dirty="0" err="1"/>
              <a:t>optimisation</a:t>
            </a:r>
            <a:r>
              <a:rPr lang="en-US" dirty="0"/>
              <a:t> / control</a:t>
            </a:r>
            <a:endParaRPr lang="en-GB" dirty="0"/>
          </a:p>
        </p:txBody>
      </p:sp>
      <p:sp>
        <p:nvSpPr>
          <p:cNvPr id="8" name="TextBox 7">
            <a:extLst>
              <a:ext uri="{FF2B5EF4-FFF2-40B4-BE49-F238E27FC236}">
                <a16:creationId xmlns:a16="http://schemas.microsoft.com/office/drawing/2014/main" id="{E3129B43-FE4C-D8BC-FD0D-5A4B6E134FE6}"/>
              </a:ext>
            </a:extLst>
          </p:cNvPr>
          <p:cNvSpPr txBox="1"/>
          <p:nvPr/>
        </p:nvSpPr>
        <p:spPr>
          <a:xfrm>
            <a:off x="6626616" y="2382998"/>
            <a:ext cx="3304286" cy="1200329"/>
          </a:xfrm>
          <a:prstGeom prst="rect">
            <a:avLst/>
          </a:prstGeom>
          <a:noFill/>
          <a:ln>
            <a:solidFill>
              <a:srgbClr val="0070C0"/>
            </a:solidFill>
          </a:ln>
        </p:spPr>
        <p:txBody>
          <a:bodyPr wrap="square" rtlCol="0">
            <a:spAutoFit/>
          </a:bodyPr>
          <a:lstStyle/>
          <a:p>
            <a:r>
              <a:rPr lang="en-US" dirty="0"/>
              <a:t>i = agent i</a:t>
            </a:r>
          </a:p>
          <a:p>
            <a:r>
              <a:rPr lang="en-GB" dirty="0">
                <a:latin typeface="CMSY10"/>
              </a:rPr>
              <a:t>x</a:t>
            </a:r>
            <a:r>
              <a:rPr lang="en-GB" baseline="-25000" dirty="0">
                <a:latin typeface="CMSY10"/>
              </a:rPr>
              <a:t>i</a:t>
            </a:r>
            <a:r>
              <a:rPr lang="en-US" dirty="0"/>
              <a:t> = state of agent i</a:t>
            </a:r>
          </a:p>
          <a:p>
            <a:r>
              <a:rPr lang="en-GB" sz="1800" b="0" i="0" u="none" strike="noStrike" baseline="0" dirty="0">
                <a:latin typeface="CMSY10"/>
              </a:rPr>
              <a:t>V = set of agents</a:t>
            </a:r>
          </a:p>
          <a:p>
            <a:r>
              <a:rPr lang="en-GB" dirty="0">
                <a:latin typeface="CMSY10"/>
              </a:rPr>
              <a:t>F</a:t>
            </a:r>
            <a:r>
              <a:rPr lang="en-GB" baseline="-25000" dirty="0">
                <a:latin typeface="CMSY10"/>
              </a:rPr>
              <a:t>i</a:t>
            </a:r>
            <a:r>
              <a:rPr lang="en-GB" dirty="0">
                <a:latin typeface="CMSY10"/>
              </a:rPr>
              <a:t>(x</a:t>
            </a:r>
            <a:r>
              <a:rPr lang="en-GB" baseline="-25000" dirty="0">
                <a:latin typeface="CMSY10"/>
              </a:rPr>
              <a:t>i</a:t>
            </a:r>
            <a:r>
              <a:rPr lang="en-GB" dirty="0">
                <a:latin typeface="CMSY10"/>
              </a:rPr>
              <a:t>) = cost function of agent i</a:t>
            </a:r>
            <a:endParaRPr lang="en-GB" dirty="0"/>
          </a:p>
        </p:txBody>
      </p:sp>
      <p:pic>
        <p:nvPicPr>
          <p:cNvPr id="17" name="Picture 16">
            <a:extLst>
              <a:ext uri="{FF2B5EF4-FFF2-40B4-BE49-F238E27FC236}">
                <a16:creationId xmlns:a16="http://schemas.microsoft.com/office/drawing/2014/main" id="{BA79C24A-00E0-DC88-2104-418346309AC2}"/>
              </a:ext>
            </a:extLst>
          </p:cNvPr>
          <p:cNvPicPr>
            <a:picLocks noChangeAspect="1"/>
          </p:cNvPicPr>
          <p:nvPr/>
        </p:nvPicPr>
        <p:blipFill>
          <a:blip r:embed="rId2"/>
          <a:stretch>
            <a:fillRect/>
          </a:stretch>
        </p:blipFill>
        <p:spPr>
          <a:xfrm>
            <a:off x="3741936" y="2636320"/>
            <a:ext cx="2623382" cy="693683"/>
          </a:xfrm>
          <a:prstGeom prst="rect">
            <a:avLst/>
          </a:prstGeom>
        </p:spPr>
      </p:pic>
      <p:pic>
        <p:nvPicPr>
          <p:cNvPr id="19" name="Picture 18">
            <a:extLst>
              <a:ext uri="{FF2B5EF4-FFF2-40B4-BE49-F238E27FC236}">
                <a16:creationId xmlns:a16="http://schemas.microsoft.com/office/drawing/2014/main" id="{F7049708-0317-6969-4D63-446B7CCB84E4}"/>
              </a:ext>
            </a:extLst>
          </p:cNvPr>
          <p:cNvPicPr>
            <a:picLocks noChangeAspect="1"/>
          </p:cNvPicPr>
          <p:nvPr/>
        </p:nvPicPr>
        <p:blipFill>
          <a:blip r:embed="rId3"/>
          <a:stretch>
            <a:fillRect/>
          </a:stretch>
        </p:blipFill>
        <p:spPr>
          <a:xfrm>
            <a:off x="4158612" y="5313614"/>
            <a:ext cx="2799956" cy="1179261"/>
          </a:xfrm>
          <a:prstGeom prst="rect">
            <a:avLst/>
          </a:prstGeom>
        </p:spPr>
      </p:pic>
      <p:cxnSp>
        <p:nvCxnSpPr>
          <p:cNvPr id="7" name="Straight Arrow Connector 6">
            <a:extLst>
              <a:ext uri="{FF2B5EF4-FFF2-40B4-BE49-F238E27FC236}">
                <a16:creationId xmlns:a16="http://schemas.microsoft.com/office/drawing/2014/main" id="{5C3D8B52-A91D-9CA8-50E7-A65E2C6762F0}"/>
              </a:ext>
            </a:extLst>
          </p:cNvPr>
          <p:cNvCxnSpPr>
            <a:cxnSpLocks/>
          </p:cNvCxnSpPr>
          <p:nvPr/>
        </p:nvCxnSpPr>
        <p:spPr>
          <a:xfrm flipH="1" flipV="1">
            <a:off x="5826681" y="3239531"/>
            <a:ext cx="538637" cy="90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5B848F6-DB16-1D22-2BFF-74D27DF546FF}"/>
              </a:ext>
            </a:extLst>
          </p:cNvPr>
          <p:cNvCxnSpPr>
            <a:cxnSpLocks/>
            <a:stCxn id="19" idx="3"/>
          </p:cNvCxnSpPr>
          <p:nvPr/>
        </p:nvCxnSpPr>
        <p:spPr>
          <a:xfrm flipH="1">
            <a:off x="6095999" y="5903245"/>
            <a:ext cx="862569" cy="1427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66E79476-4E8F-295B-9FB2-4AEC48DF178B}"/>
              </a:ext>
            </a:extLst>
          </p:cNvPr>
          <p:cNvSpPr txBox="1"/>
          <p:nvPr/>
        </p:nvSpPr>
        <p:spPr>
          <a:xfrm>
            <a:off x="6974694" y="5676618"/>
            <a:ext cx="3304286" cy="369332"/>
          </a:xfrm>
          <a:prstGeom prst="rect">
            <a:avLst/>
          </a:prstGeom>
          <a:noFill/>
          <a:ln>
            <a:solidFill>
              <a:srgbClr val="0070C0"/>
            </a:solidFill>
          </a:ln>
        </p:spPr>
        <p:txBody>
          <a:bodyPr wrap="square" rtlCol="0">
            <a:spAutoFit/>
          </a:bodyPr>
          <a:lstStyle/>
          <a:p>
            <a:r>
              <a:rPr lang="en-US" dirty="0"/>
              <a:t>Communication network matrix</a:t>
            </a:r>
            <a:endParaRPr lang="en-GB" dirty="0"/>
          </a:p>
        </p:txBody>
      </p:sp>
    </p:spTree>
    <p:extLst>
      <p:ext uri="{BB962C8B-B14F-4D97-AF65-F5344CB8AC3E}">
        <p14:creationId xmlns:p14="http://schemas.microsoft.com/office/powerpoint/2010/main" val="3179290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0E81B-F299-4EE5-8827-278920A31C4F}"/>
              </a:ext>
            </a:extLst>
          </p:cNvPr>
          <p:cNvSpPr>
            <a:spLocks noGrp="1"/>
          </p:cNvSpPr>
          <p:nvPr>
            <p:ph type="title"/>
          </p:nvPr>
        </p:nvSpPr>
        <p:spPr/>
        <p:txBody>
          <a:bodyPr/>
          <a:lstStyle/>
          <a:p>
            <a:r>
              <a:rPr lang="en-US" dirty="0"/>
              <a:t>Intro to distributed </a:t>
            </a:r>
            <a:r>
              <a:rPr lang="en-US" dirty="0" err="1"/>
              <a:t>optimisation</a:t>
            </a:r>
            <a:r>
              <a:rPr lang="en-US" dirty="0"/>
              <a:t> / control</a:t>
            </a:r>
            <a:endParaRPr lang="en-GB" dirty="0"/>
          </a:p>
        </p:txBody>
      </p:sp>
      <p:sp>
        <p:nvSpPr>
          <p:cNvPr id="3" name="Content Placeholder 2">
            <a:extLst>
              <a:ext uri="{FF2B5EF4-FFF2-40B4-BE49-F238E27FC236}">
                <a16:creationId xmlns:a16="http://schemas.microsoft.com/office/drawing/2014/main" id="{D23CB83A-9297-87E6-FA80-A46DCE3C9476}"/>
              </a:ext>
            </a:extLst>
          </p:cNvPr>
          <p:cNvSpPr>
            <a:spLocks noGrp="1"/>
          </p:cNvSpPr>
          <p:nvPr>
            <p:ph idx="1"/>
          </p:nvPr>
        </p:nvSpPr>
        <p:spPr/>
        <p:txBody>
          <a:bodyPr/>
          <a:lstStyle/>
          <a:p>
            <a:r>
              <a:rPr lang="en-US" dirty="0"/>
              <a:t>KKT conditions for optimality</a:t>
            </a:r>
            <a:endParaRPr lang="en-GB" dirty="0"/>
          </a:p>
        </p:txBody>
      </p:sp>
      <p:pic>
        <p:nvPicPr>
          <p:cNvPr id="5" name="Picture 4">
            <a:extLst>
              <a:ext uri="{FF2B5EF4-FFF2-40B4-BE49-F238E27FC236}">
                <a16:creationId xmlns:a16="http://schemas.microsoft.com/office/drawing/2014/main" id="{3C2A323F-2D49-81D7-8D45-42CAA4B801A8}"/>
              </a:ext>
            </a:extLst>
          </p:cNvPr>
          <p:cNvPicPr>
            <a:picLocks noChangeAspect="1"/>
          </p:cNvPicPr>
          <p:nvPr/>
        </p:nvPicPr>
        <p:blipFill>
          <a:blip r:embed="rId2"/>
          <a:stretch>
            <a:fillRect/>
          </a:stretch>
        </p:blipFill>
        <p:spPr>
          <a:xfrm>
            <a:off x="4542390" y="2376280"/>
            <a:ext cx="3107220" cy="1188747"/>
          </a:xfrm>
          <a:prstGeom prst="rect">
            <a:avLst/>
          </a:prstGeom>
        </p:spPr>
      </p:pic>
      <p:pic>
        <p:nvPicPr>
          <p:cNvPr id="9" name="Picture 8">
            <a:extLst>
              <a:ext uri="{FF2B5EF4-FFF2-40B4-BE49-F238E27FC236}">
                <a16:creationId xmlns:a16="http://schemas.microsoft.com/office/drawing/2014/main" id="{5396BF30-5454-4D16-2FF8-724ECD18072F}"/>
              </a:ext>
            </a:extLst>
          </p:cNvPr>
          <p:cNvPicPr>
            <a:picLocks noChangeAspect="1"/>
          </p:cNvPicPr>
          <p:nvPr/>
        </p:nvPicPr>
        <p:blipFill>
          <a:blip r:embed="rId3"/>
          <a:stretch>
            <a:fillRect/>
          </a:stretch>
        </p:blipFill>
        <p:spPr>
          <a:xfrm>
            <a:off x="2141272" y="3699964"/>
            <a:ext cx="8257598" cy="1502336"/>
          </a:xfrm>
          <a:prstGeom prst="rect">
            <a:avLst/>
          </a:prstGeom>
        </p:spPr>
      </p:pic>
      <p:cxnSp>
        <p:nvCxnSpPr>
          <p:cNvPr id="13" name="Straight Arrow Connector 12">
            <a:extLst>
              <a:ext uri="{FF2B5EF4-FFF2-40B4-BE49-F238E27FC236}">
                <a16:creationId xmlns:a16="http://schemas.microsoft.com/office/drawing/2014/main" id="{720543A7-5F5E-8163-7F52-856BF9E131EB}"/>
              </a:ext>
            </a:extLst>
          </p:cNvPr>
          <p:cNvCxnSpPr/>
          <p:nvPr/>
        </p:nvCxnSpPr>
        <p:spPr>
          <a:xfrm flipV="1">
            <a:off x="3200400" y="4854102"/>
            <a:ext cx="544749" cy="10617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AC866F0E-FFD7-75AF-C50D-C0BD09015446}"/>
              </a:ext>
            </a:extLst>
          </p:cNvPr>
          <p:cNvSpPr/>
          <p:nvPr/>
        </p:nvSpPr>
        <p:spPr>
          <a:xfrm>
            <a:off x="680864" y="5994688"/>
            <a:ext cx="4229569" cy="8633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Results also exist for cost functions which are not strictly convex, but not in all cases and not with the same simplicity</a:t>
            </a:r>
            <a:endParaRPr lang="en-GB" dirty="0"/>
          </a:p>
        </p:txBody>
      </p:sp>
      <p:pic>
        <p:nvPicPr>
          <p:cNvPr id="16" name="Picture 15">
            <a:extLst>
              <a:ext uri="{FF2B5EF4-FFF2-40B4-BE49-F238E27FC236}">
                <a16:creationId xmlns:a16="http://schemas.microsoft.com/office/drawing/2014/main" id="{1DA222A6-16E7-2F3C-45F4-08B9934506CE}"/>
              </a:ext>
            </a:extLst>
          </p:cNvPr>
          <p:cNvPicPr>
            <a:picLocks noChangeAspect="1"/>
          </p:cNvPicPr>
          <p:nvPr/>
        </p:nvPicPr>
        <p:blipFill>
          <a:blip r:embed="rId4"/>
          <a:stretch>
            <a:fillRect/>
          </a:stretch>
        </p:blipFill>
        <p:spPr>
          <a:xfrm>
            <a:off x="5041853" y="5286653"/>
            <a:ext cx="3405000" cy="1045821"/>
          </a:xfrm>
          <a:prstGeom prst="rect">
            <a:avLst/>
          </a:prstGeom>
        </p:spPr>
      </p:pic>
      <p:sp>
        <p:nvSpPr>
          <p:cNvPr id="17" name="Rectangle 16">
            <a:extLst>
              <a:ext uri="{FF2B5EF4-FFF2-40B4-BE49-F238E27FC236}">
                <a16:creationId xmlns:a16="http://schemas.microsoft.com/office/drawing/2014/main" id="{9046CC0D-958D-12DD-F8B8-D7CC982AE6CC}"/>
              </a:ext>
            </a:extLst>
          </p:cNvPr>
          <p:cNvSpPr/>
          <p:nvPr/>
        </p:nvSpPr>
        <p:spPr>
          <a:xfrm>
            <a:off x="7177075" y="5670437"/>
            <a:ext cx="4825077" cy="86331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highlight>
                  <a:srgbClr val="FFFF00"/>
                </a:highlight>
              </a:rPr>
              <a:t>Guaranteed stability &amp; optimality!!</a:t>
            </a:r>
            <a:endParaRPr lang="en-GB" sz="2400" dirty="0">
              <a:highlight>
                <a:srgbClr val="FFFF00"/>
              </a:highlight>
            </a:endParaRPr>
          </a:p>
        </p:txBody>
      </p:sp>
    </p:spTree>
    <p:extLst>
      <p:ext uri="{BB962C8B-B14F-4D97-AF65-F5344CB8AC3E}">
        <p14:creationId xmlns:p14="http://schemas.microsoft.com/office/powerpoint/2010/main" val="1685219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89F45E9-7AFC-4FED-94EA-54A148638744}"/>
              </a:ext>
            </a:extLst>
          </p:cNvPr>
          <p:cNvPicPr>
            <a:picLocks noGrp="1" noChangeAspect="1"/>
          </p:cNvPicPr>
          <p:nvPr>
            <p:ph idx="1"/>
          </p:nvPr>
        </p:nvPicPr>
        <p:blipFill>
          <a:blip r:embed="rId2"/>
          <a:stretch>
            <a:fillRect/>
          </a:stretch>
        </p:blipFill>
        <p:spPr>
          <a:xfrm>
            <a:off x="6077146" y="986757"/>
            <a:ext cx="5499825" cy="2124932"/>
          </a:xfrm>
          <a:prstGeom prst="rect">
            <a:avLst/>
          </a:prstGeom>
        </p:spPr>
      </p:pic>
      <p:sp>
        <p:nvSpPr>
          <p:cNvPr id="7" name="TextBox 6">
            <a:extLst>
              <a:ext uri="{FF2B5EF4-FFF2-40B4-BE49-F238E27FC236}">
                <a16:creationId xmlns:a16="http://schemas.microsoft.com/office/drawing/2014/main" id="{48EE9D0C-03CB-4B30-A6CC-8B85FF05EF48}"/>
              </a:ext>
            </a:extLst>
          </p:cNvPr>
          <p:cNvSpPr txBox="1"/>
          <p:nvPr/>
        </p:nvSpPr>
        <p:spPr>
          <a:xfrm>
            <a:off x="216569" y="165802"/>
            <a:ext cx="5233736" cy="646331"/>
          </a:xfrm>
          <a:prstGeom prst="rect">
            <a:avLst/>
          </a:prstGeom>
          <a:noFill/>
        </p:spPr>
        <p:txBody>
          <a:bodyPr wrap="square" rtlCol="0">
            <a:spAutoFit/>
          </a:bodyPr>
          <a:lstStyle/>
          <a:p>
            <a:r>
              <a:rPr lang="en-NZ" i="1" dirty="0">
                <a:solidFill>
                  <a:srgbClr val="0070C0"/>
                </a:solidFill>
              </a:rPr>
              <a:t>Primal-dual secondary frequency control with delays </a:t>
            </a:r>
          </a:p>
          <a:p>
            <a:r>
              <a:rPr lang="en-NZ" i="1" dirty="0">
                <a:solidFill>
                  <a:srgbClr val="0070C0"/>
                </a:solidFill>
              </a:rPr>
              <a:t>(IEEE Trans. Automatic Control 2024)</a:t>
            </a:r>
          </a:p>
        </p:txBody>
      </p:sp>
      <p:sp>
        <p:nvSpPr>
          <p:cNvPr id="8" name="Rectangle 7">
            <a:extLst>
              <a:ext uri="{FF2B5EF4-FFF2-40B4-BE49-F238E27FC236}">
                <a16:creationId xmlns:a16="http://schemas.microsoft.com/office/drawing/2014/main" id="{A39D778F-D37F-4709-A8A3-42B730E1831D}"/>
              </a:ext>
            </a:extLst>
          </p:cNvPr>
          <p:cNvSpPr/>
          <p:nvPr/>
        </p:nvSpPr>
        <p:spPr>
          <a:xfrm>
            <a:off x="6163163" y="708917"/>
            <a:ext cx="5589351" cy="369332"/>
          </a:xfrm>
          <a:prstGeom prst="rect">
            <a:avLst/>
          </a:prstGeom>
        </p:spPr>
        <p:txBody>
          <a:bodyPr wrap="none">
            <a:spAutoFit/>
          </a:bodyPr>
          <a:lstStyle/>
          <a:p>
            <a:r>
              <a:rPr lang="en-NZ" i="1" dirty="0">
                <a:solidFill>
                  <a:srgbClr val="0070C0"/>
                </a:solidFill>
              </a:rPr>
              <a:t>Results (IEEE 39 system) with 20ms communication delays</a:t>
            </a:r>
            <a:endParaRPr lang="en-NZ" dirty="0"/>
          </a:p>
        </p:txBody>
      </p:sp>
      <p:sp>
        <p:nvSpPr>
          <p:cNvPr id="9" name="Rectangle 8">
            <a:extLst>
              <a:ext uri="{FF2B5EF4-FFF2-40B4-BE49-F238E27FC236}">
                <a16:creationId xmlns:a16="http://schemas.microsoft.com/office/drawing/2014/main" id="{77E8A9AE-A5D1-4C2C-A31B-A25FF77496BB}"/>
              </a:ext>
            </a:extLst>
          </p:cNvPr>
          <p:cNvSpPr/>
          <p:nvPr/>
        </p:nvSpPr>
        <p:spPr>
          <a:xfrm>
            <a:off x="6378743" y="3067603"/>
            <a:ext cx="2144370" cy="369332"/>
          </a:xfrm>
          <a:prstGeom prst="rect">
            <a:avLst/>
          </a:prstGeom>
        </p:spPr>
        <p:txBody>
          <a:bodyPr wrap="none">
            <a:spAutoFit/>
          </a:bodyPr>
          <a:lstStyle/>
          <a:p>
            <a:r>
              <a:rPr lang="en-NZ" i="1" dirty="0">
                <a:solidFill>
                  <a:srgbClr val="0070C0"/>
                </a:solidFill>
              </a:rPr>
              <a:t>Traditional controller</a:t>
            </a:r>
            <a:endParaRPr lang="en-NZ" dirty="0"/>
          </a:p>
        </p:txBody>
      </p:sp>
      <p:sp>
        <p:nvSpPr>
          <p:cNvPr id="10" name="Rectangle 9">
            <a:extLst>
              <a:ext uri="{FF2B5EF4-FFF2-40B4-BE49-F238E27FC236}">
                <a16:creationId xmlns:a16="http://schemas.microsoft.com/office/drawing/2014/main" id="{4F838FA9-9927-4A1E-81F5-3FA271836242}"/>
              </a:ext>
            </a:extLst>
          </p:cNvPr>
          <p:cNvSpPr/>
          <p:nvPr/>
        </p:nvSpPr>
        <p:spPr>
          <a:xfrm>
            <a:off x="9067171" y="6322866"/>
            <a:ext cx="2408673" cy="369332"/>
          </a:xfrm>
          <a:prstGeom prst="rect">
            <a:avLst/>
          </a:prstGeom>
        </p:spPr>
        <p:txBody>
          <a:bodyPr wrap="none">
            <a:spAutoFit/>
          </a:bodyPr>
          <a:lstStyle/>
          <a:p>
            <a:r>
              <a:rPr lang="en-NZ" i="1" dirty="0">
                <a:solidFill>
                  <a:srgbClr val="0070C0"/>
                </a:solidFill>
              </a:rPr>
              <a:t>Our proposed controller</a:t>
            </a:r>
            <a:endParaRPr lang="en-NZ" dirty="0"/>
          </a:p>
        </p:txBody>
      </p:sp>
      <p:pic>
        <p:nvPicPr>
          <p:cNvPr id="11" name="Picture 10">
            <a:extLst>
              <a:ext uri="{FF2B5EF4-FFF2-40B4-BE49-F238E27FC236}">
                <a16:creationId xmlns:a16="http://schemas.microsoft.com/office/drawing/2014/main" id="{FFBB27BD-B887-427F-A606-8CC8EACFD52F}"/>
              </a:ext>
            </a:extLst>
          </p:cNvPr>
          <p:cNvPicPr>
            <a:picLocks noChangeAspect="1"/>
          </p:cNvPicPr>
          <p:nvPr/>
        </p:nvPicPr>
        <p:blipFill>
          <a:blip r:embed="rId3"/>
          <a:stretch>
            <a:fillRect/>
          </a:stretch>
        </p:blipFill>
        <p:spPr>
          <a:xfrm>
            <a:off x="6264038" y="4345057"/>
            <a:ext cx="5126042" cy="2068631"/>
          </a:xfrm>
          <a:prstGeom prst="rect">
            <a:avLst/>
          </a:prstGeom>
        </p:spPr>
      </p:pic>
      <p:sp>
        <p:nvSpPr>
          <p:cNvPr id="12" name="Rectangle 11">
            <a:extLst>
              <a:ext uri="{FF2B5EF4-FFF2-40B4-BE49-F238E27FC236}">
                <a16:creationId xmlns:a16="http://schemas.microsoft.com/office/drawing/2014/main" id="{C99D33E6-231D-4C5E-8D66-AA06AA6BA59A}"/>
              </a:ext>
            </a:extLst>
          </p:cNvPr>
          <p:cNvSpPr/>
          <p:nvPr/>
        </p:nvSpPr>
        <p:spPr>
          <a:xfrm>
            <a:off x="6163163" y="3831112"/>
            <a:ext cx="6123343" cy="369332"/>
          </a:xfrm>
          <a:prstGeom prst="rect">
            <a:avLst/>
          </a:prstGeom>
        </p:spPr>
        <p:txBody>
          <a:bodyPr wrap="none">
            <a:spAutoFit/>
          </a:bodyPr>
          <a:lstStyle/>
          <a:p>
            <a:r>
              <a:rPr lang="en-NZ" i="1" dirty="0">
                <a:solidFill>
                  <a:srgbClr val="0070C0"/>
                </a:solidFill>
              </a:rPr>
              <a:t>Results (IEEE 39 system) with noisy measurements (SNR = 20dB)</a:t>
            </a:r>
            <a:endParaRPr lang="en-NZ" dirty="0"/>
          </a:p>
        </p:txBody>
      </p:sp>
      <p:sp>
        <p:nvSpPr>
          <p:cNvPr id="13" name="Rectangle 12">
            <a:extLst>
              <a:ext uri="{FF2B5EF4-FFF2-40B4-BE49-F238E27FC236}">
                <a16:creationId xmlns:a16="http://schemas.microsoft.com/office/drawing/2014/main" id="{B85C0BE5-153B-4C54-8F1A-0749BBA971E3}"/>
              </a:ext>
            </a:extLst>
          </p:cNvPr>
          <p:cNvSpPr/>
          <p:nvPr/>
        </p:nvSpPr>
        <p:spPr>
          <a:xfrm>
            <a:off x="9067170" y="3066278"/>
            <a:ext cx="2408673" cy="369332"/>
          </a:xfrm>
          <a:prstGeom prst="rect">
            <a:avLst/>
          </a:prstGeom>
        </p:spPr>
        <p:txBody>
          <a:bodyPr wrap="none">
            <a:spAutoFit/>
          </a:bodyPr>
          <a:lstStyle/>
          <a:p>
            <a:r>
              <a:rPr lang="en-NZ" i="1" dirty="0">
                <a:solidFill>
                  <a:srgbClr val="0070C0"/>
                </a:solidFill>
              </a:rPr>
              <a:t>Our proposed controller</a:t>
            </a:r>
            <a:endParaRPr lang="en-NZ" dirty="0"/>
          </a:p>
        </p:txBody>
      </p:sp>
      <p:sp>
        <p:nvSpPr>
          <p:cNvPr id="14" name="Rectangle 13">
            <a:extLst>
              <a:ext uri="{FF2B5EF4-FFF2-40B4-BE49-F238E27FC236}">
                <a16:creationId xmlns:a16="http://schemas.microsoft.com/office/drawing/2014/main" id="{A59A2A3B-262A-45FB-B1F6-DD99A6ADD6A8}"/>
              </a:ext>
            </a:extLst>
          </p:cNvPr>
          <p:cNvSpPr/>
          <p:nvPr/>
        </p:nvSpPr>
        <p:spPr>
          <a:xfrm>
            <a:off x="6378743" y="6322866"/>
            <a:ext cx="2144370" cy="369332"/>
          </a:xfrm>
          <a:prstGeom prst="rect">
            <a:avLst/>
          </a:prstGeom>
        </p:spPr>
        <p:txBody>
          <a:bodyPr wrap="none">
            <a:spAutoFit/>
          </a:bodyPr>
          <a:lstStyle/>
          <a:p>
            <a:r>
              <a:rPr lang="en-NZ" i="1" dirty="0">
                <a:solidFill>
                  <a:srgbClr val="0070C0"/>
                </a:solidFill>
              </a:rPr>
              <a:t>Traditional controller</a:t>
            </a:r>
            <a:endParaRPr lang="en-NZ" dirty="0"/>
          </a:p>
        </p:txBody>
      </p:sp>
      <p:pic>
        <p:nvPicPr>
          <p:cNvPr id="15" name="Picture 14">
            <a:extLst>
              <a:ext uri="{FF2B5EF4-FFF2-40B4-BE49-F238E27FC236}">
                <a16:creationId xmlns:a16="http://schemas.microsoft.com/office/drawing/2014/main" id="{60A50BB1-0E43-4A1D-9F94-9E80912D3464}"/>
              </a:ext>
            </a:extLst>
          </p:cNvPr>
          <p:cNvPicPr>
            <a:picLocks noChangeAspect="1"/>
          </p:cNvPicPr>
          <p:nvPr/>
        </p:nvPicPr>
        <p:blipFill>
          <a:blip r:embed="rId4"/>
          <a:stretch>
            <a:fillRect/>
          </a:stretch>
        </p:blipFill>
        <p:spPr>
          <a:xfrm>
            <a:off x="289447" y="2130080"/>
            <a:ext cx="4142983" cy="4562118"/>
          </a:xfrm>
          <a:prstGeom prst="rect">
            <a:avLst/>
          </a:prstGeom>
        </p:spPr>
      </p:pic>
      <p:sp>
        <p:nvSpPr>
          <p:cNvPr id="3" name="TextBox 2">
            <a:extLst>
              <a:ext uri="{FF2B5EF4-FFF2-40B4-BE49-F238E27FC236}">
                <a16:creationId xmlns:a16="http://schemas.microsoft.com/office/drawing/2014/main" id="{6B879E4C-4798-B6A9-7982-756F7BEC6F93}"/>
              </a:ext>
            </a:extLst>
          </p:cNvPr>
          <p:cNvSpPr txBox="1"/>
          <p:nvPr/>
        </p:nvSpPr>
        <p:spPr>
          <a:xfrm>
            <a:off x="289447" y="1141981"/>
            <a:ext cx="6144126" cy="646331"/>
          </a:xfrm>
          <a:prstGeom prst="rect">
            <a:avLst/>
          </a:prstGeom>
          <a:noFill/>
        </p:spPr>
        <p:txBody>
          <a:bodyPr wrap="square">
            <a:spAutoFit/>
          </a:bodyPr>
          <a:lstStyle/>
          <a:p>
            <a:r>
              <a:rPr lang="en-NZ" i="1" dirty="0">
                <a:solidFill>
                  <a:srgbClr val="0070C0"/>
                </a:solidFill>
              </a:rPr>
              <a:t>Idea: transform the communicated variables to </a:t>
            </a:r>
          </a:p>
          <a:p>
            <a:r>
              <a:rPr lang="en-NZ" i="1" dirty="0">
                <a:solidFill>
                  <a:srgbClr val="0070C0"/>
                </a:solidFill>
              </a:rPr>
              <a:t>allow noise resistance + delay robustness</a:t>
            </a:r>
          </a:p>
        </p:txBody>
      </p:sp>
      <p:sp>
        <p:nvSpPr>
          <p:cNvPr id="5" name="TextBox 4">
            <a:extLst>
              <a:ext uri="{FF2B5EF4-FFF2-40B4-BE49-F238E27FC236}">
                <a16:creationId xmlns:a16="http://schemas.microsoft.com/office/drawing/2014/main" id="{27F17536-9257-3C9A-D7D5-046873B3FF50}"/>
              </a:ext>
            </a:extLst>
          </p:cNvPr>
          <p:cNvSpPr txBox="1"/>
          <p:nvPr/>
        </p:nvSpPr>
        <p:spPr>
          <a:xfrm>
            <a:off x="691004" y="3111689"/>
            <a:ext cx="3272590" cy="2585323"/>
          </a:xfrm>
          <a:prstGeom prst="rect">
            <a:avLst/>
          </a:prstGeom>
          <a:solidFill>
            <a:schemeClr val="bg2">
              <a:alpha val="20000"/>
            </a:schemeClr>
          </a:solidFill>
        </p:spPr>
        <p:txBody>
          <a:bodyPr wrap="square" rtlCol="0">
            <a:spAutoFit/>
          </a:bodyPr>
          <a:lstStyle/>
          <a:p>
            <a:pPr algn="ctr"/>
            <a:endParaRPr lang="en-US" dirty="0"/>
          </a:p>
          <a:p>
            <a:pPr algn="ctr"/>
            <a:endParaRPr lang="en-US" dirty="0"/>
          </a:p>
          <a:p>
            <a:pPr algn="ctr"/>
            <a:endParaRPr lang="en-US" dirty="0"/>
          </a:p>
          <a:p>
            <a:pPr algn="ctr"/>
            <a:endParaRPr lang="en-US" dirty="0"/>
          </a:p>
          <a:p>
            <a:pPr algn="ctr"/>
            <a:r>
              <a:rPr lang="en-US" dirty="0"/>
              <a:t>Transformations</a:t>
            </a:r>
          </a:p>
          <a:p>
            <a:pPr algn="ctr"/>
            <a:endParaRPr lang="en-US" dirty="0"/>
          </a:p>
          <a:p>
            <a:pPr algn="ctr"/>
            <a:endParaRPr lang="en-US" dirty="0"/>
          </a:p>
          <a:p>
            <a:pPr algn="ctr"/>
            <a:endParaRPr lang="en-US" dirty="0"/>
          </a:p>
          <a:p>
            <a:pPr algn="ctr"/>
            <a:endParaRPr lang="en-GB" dirty="0"/>
          </a:p>
        </p:txBody>
      </p:sp>
    </p:spTree>
    <p:extLst>
      <p:ext uri="{BB962C8B-B14F-4D97-AF65-F5344CB8AC3E}">
        <p14:creationId xmlns:p14="http://schemas.microsoft.com/office/powerpoint/2010/main" val="4292788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953C2D84-DC1C-4950-A4B6-70FAA2DF9A50}"/>
              </a:ext>
            </a:extLst>
          </p:cNvPr>
          <p:cNvSpPr/>
          <p:nvPr/>
        </p:nvSpPr>
        <p:spPr>
          <a:xfrm>
            <a:off x="216568" y="3701642"/>
            <a:ext cx="2271840" cy="923330"/>
          </a:xfrm>
          <a:prstGeom prst="rect">
            <a:avLst/>
          </a:prstGeom>
        </p:spPr>
        <p:txBody>
          <a:bodyPr wrap="none">
            <a:spAutoFit/>
          </a:bodyPr>
          <a:lstStyle/>
          <a:p>
            <a:r>
              <a:rPr lang="en-NZ" i="1" dirty="0">
                <a:solidFill>
                  <a:srgbClr val="0070C0"/>
                </a:solidFill>
              </a:rPr>
              <a:t>Distributed Averaging</a:t>
            </a:r>
          </a:p>
          <a:p>
            <a:r>
              <a:rPr lang="en-NZ" i="1" dirty="0">
                <a:solidFill>
                  <a:srgbClr val="0070C0"/>
                </a:solidFill>
              </a:rPr>
              <a:t>Proportional-Integral</a:t>
            </a:r>
          </a:p>
          <a:p>
            <a:r>
              <a:rPr lang="en-NZ" i="1" dirty="0">
                <a:solidFill>
                  <a:srgbClr val="0070C0"/>
                </a:solidFill>
              </a:rPr>
              <a:t>Controller</a:t>
            </a:r>
            <a:endParaRPr lang="en-NZ" dirty="0"/>
          </a:p>
        </p:txBody>
      </p:sp>
      <p:pic>
        <p:nvPicPr>
          <p:cNvPr id="21" name="Picture 20">
            <a:extLst>
              <a:ext uri="{FF2B5EF4-FFF2-40B4-BE49-F238E27FC236}">
                <a16:creationId xmlns:a16="http://schemas.microsoft.com/office/drawing/2014/main" id="{010F3E52-BAC4-4B62-B6A5-965D5BB0378F}"/>
              </a:ext>
            </a:extLst>
          </p:cNvPr>
          <p:cNvPicPr>
            <a:picLocks noChangeAspect="1"/>
          </p:cNvPicPr>
          <p:nvPr/>
        </p:nvPicPr>
        <p:blipFill>
          <a:blip r:embed="rId2"/>
          <a:stretch>
            <a:fillRect/>
          </a:stretch>
        </p:blipFill>
        <p:spPr>
          <a:xfrm>
            <a:off x="7466197" y="369332"/>
            <a:ext cx="4046621" cy="2518260"/>
          </a:xfrm>
          <a:prstGeom prst="rect">
            <a:avLst/>
          </a:prstGeom>
        </p:spPr>
      </p:pic>
      <p:pic>
        <p:nvPicPr>
          <p:cNvPr id="19" name="Picture 18">
            <a:extLst>
              <a:ext uri="{FF2B5EF4-FFF2-40B4-BE49-F238E27FC236}">
                <a16:creationId xmlns:a16="http://schemas.microsoft.com/office/drawing/2014/main" id="{FF27D89D-DDF0-4CFE-94C1-8029B9D82891}"/>
              </a:ext>
            </a:extLst>
          </p:cNvPr>
          <p:cNvPicPr>
            <a:picLocks noChangeAspect="1"/>
          </p:cNvPicPr>
          <p:nvPr/>
        </p:nvPicPr>
        <p:blipFill>
          <a:blip r:embed="rId3"/>
          <a:stretch>
            <a:fillRect/>
          </a:stretch>
        </p:blipFill>
        <p:spPr>
          <a:xfrm>
            <a:off x="7466197" y="3046256"/>
            <a:ext cx="4295163" cy="1837189"/>
          </a:xfrm>
          <a:prstGeom prst="rect">
            <a:avLst/>
          </a:prstGeom>
        </p:spPr>
      </p:pic>
      <p:sp>
        <p:nvSpPr>
          <p:cNvPr id="7" name="TextBox 6">
            <a:extLst>
              <a:ext uri="{FF2B5EF4-FFF2-40B4-BE49-F238E27FC236}">
                <a16:creationId xmlns:a16="http://schemas.microsoft.com/office/drawing/2014/main" id="{48EE9D0C-03CB-4B30-A6CC-8B85FF05EF48}"/>
              </a:ext>
            </a:extLst>
          </p:cNvPr>
          <p:cNvSpPr txBox="1"/>
          <p:nvPr/>
        </p:nvSpPr>
        <p:spPr>
          <a:xfrm>
            <a:off x="216569" y="165802"/>
            <a:ext cx="5233736" cy="646331"/>
          </a:xfrm>
          <a:prstGeom prst="rect">
            <a:avLst/>
          </a:prstGeom>
          <a:noFill/>
        </p:spPr>
        <p:txBody>
          <a:bodyPr wrap="square" rtlCol="0">
            <a:spAutoFit/>
          </a:bodyPr>
          <a:lstStyle/>
          <a:p>
            <a:r>
              <a:rPr lang="en-NZ" i="1" dirty="0">
                <a:solidFill>
                  <a:srgbClr val="0070C0"/>
                </a:solidFill>
              </a:rPr>
              <a:t>Distributed secondary control for hybrid AC/DC grids</a:t>
            </a:r>
          </a:p>
          <a:p>
            <a:r>
              <a:rPr lang="en-NZ" i="1" dirty="0">
                <a:solidFill>
                  <a:srgbClr val="0070C0"/>
                </a:solidFill>
              </a:rPr>
              <a:t>(IEEE Trans. Control Systems 2021)</a:t>
            </a:r>
          </a:p>
        </p:txBody>
      </p:sp>
      <p:sp>
        <p:nvSpPr>
          <p:cNvPr id="8" name="Rectangle 7">
            <a:extLst>
              <a:ext uri="{FF2B5EF4-FFF2-40B4-BE49-F238E27FC236}">
                <a16:creationId xmlns:a16="http://schemas.microsoft.com/office/drawing/2014/main" id="{A39D778F-D37F-4709-A8A3-42B730E1831D}"/>
              </a:ext>
            </a:extLst>
          </p:cNvPr>
          <p:cNvSpPr/>
          <p:nvPr/>
        </p:nvSpPr>
        <p:spPr>
          <a:xfrm>
            <a:off x="7466197" y="0"/>
            <a:ext cx="1180772" cy="369332"/>
          </a:xfrm>
          <a:prstGeom prst="rect">
            <a:avLst/>
          </a:prstGeom>
        </p:spPr>
        <p:txBody>
          <a:bodyPr wrap="none">
            <a:spAutoFit/>
          </a:bodyPr>
          <a:lstStyle/>
          <a:p>
            <a:r>
              <a:rPr lang="en-NZ" i="1" dirty="0">
                <a:solidFill>
                  <a:srgbClr val="0070C0"/>
                </a:solidFill>
              </a:rPr>
              <a:t>Case study</a:t>
            </a:r>
            <a:endParaRPr lang="en-NZ" dirty="0"/>
          </a:p>
        </p:txBody>
      </p:sp>
      <p:sp>
        <p:nvSpPr>
          <p:cNvPr id="9" name="Rectangle 8">
            <a:extLst>
              <a:ext uri="{FF2B5EF4-FFF2-40B4-BE49-F238E27FC236}">
                <a16:creationId xmlns:a16="http://schemas.microsoft.com/office/drawing/2014/main" id="{77E8A9AE-A5D1-4C2C-A31B-A25FF77496BB}"/>
              </a:ext>
            </a:extLst>
          </p:cNvPr>
          <p:cNvSpPr/>
          <p:nvPr/>
        </p:nvSpPr>
        <p:spPr>
          <a:xfrm>
            <a:off x="7469408" y="2841778"/>
            <a:ext cx="2144370" cy="369332"/>
          </a:xfrm>
          <a:prstGeom prst="rect">
            <a:avLst/>
          </a:prstGeom>
        </p:spPr>
        <p:txBody>
          <a:bodyPr wrap="none">
            <a:spAutoFit/>
          </a:bodyPr>
          <a:lstStyle/>
          <a:p>
            <a:r>
              <a:rPr lang="en-NZ" i="1" dirty="0">
                <a:solidFill>
                  <a:srgbClr val="0070C0"/>
                </a:solidFill>
              </a:rPr>
              <a:t>Traditional controller</a:t>
            </a:r>
            <a:endParaRPr lang="en-NZ" dirty="0"/>
          </a:p>
        </p:txBody>
      </p:sp>
      <p:sp>
        <p:nvSpPr>
          <p:cNvPr id="13" name="Rectangle 12">
            <a:extLst>
              <a:ext uri="{FF2B5EF4-FFF2-40B4-BE49-F238E27FC236}">
                <a16:creationId xmlns:a16="http://schemas.microsoft.com/office/drawing/2014/main" id="{B85C0BE5-153B-4C54-8F1A-0749BBA971E3}"/>
              </a:ext>
            </a:extLst>
          </p:cNvPr>
          <p:cNvSpPr/>
          <p:nvPr/>
        </p:nvSpPr>
        <p:spPr>
          <a:xfrm>
            <a:off x="7466197" y="4764405"/>
            <a:ext cx="2408673" cy="369332"/>
          </a:xfrm>
          <a:prstGeom prst="rect">
            <a:avLst/>
          </a:prstGeom>
        </p:spPr>
        <p:txBody>
          <a:bodyPr wrap="none">
            <a:spAutoFit/>
          </a:bodyPr>
          <a:lstStyle/>
          <a:p>
            <a:r>
              <a:rPr lang="en-NZ" i="1" dirty="0">
                <a:solidFill>
                  <a:srgbClr val="0070C0"/>
                </a:solidFill>
              </a:rPr>
              <a:t>Our proposed controller</a:t>
            </a:r>
            <a:endParaRPr lang="en-NZ" dirty="0"/>
          </a:p>
        </p:txBody>
      </p:sp>
      <p:sp>
        <p:nvSpPr>
          <p:cNvPr id="16" name="Rectangle 15">
            <a:extLst>
              <a:ext uri="{FF2B5EF4-FFF2-40B4-BE49-F238E27FC236}">
                <a16:creationId xmlns:a16="http://schemas.microsoft.com/office/drawing/2014/main" id="{4E267458-7EA4-4701-B859-D029D0B2610A}"/>
              </a:ext>
            </a:extLst>
          </p:cNvPr>
          <p:cNvSpPr/>
          <p:nvPr/>
        </p:nvSpPr>
        <p:spPr>
          <a:xfrm>
            <a:off x="216568" y="1637717"/>
            <a:ext cx="2551661" cy="369332"/>
          </a:xfrm>
          <a:prstGeom prst="rect">
            <a:avLst/>
          </a:prstGeom>
        </p:spPr>
        <p:txBody>
          <a:bodyPr wrap="none">
            <a:spAutoFit/>
          </a:bodyPr>
          <a:lstStyle/>
          <a:p>
            <a:r>
              <a:rPr lang="en-NZ" i="1" dirty="0">
                <a:solidFill>
                  <a:srgbClr val="0070C0"/>
                </a:solidFill>
              </a:rPr>
              <a:t>Optimisation formulation</a:t>
            </a:r>
            <a:endParaRPr lang="en-NZ" dirty="0"/>
          </a:p>
        </p:txBody>
      </p:sp>
      <p:sp>
        <p:nvSpPr>
          <p:cNvPr id="17" name="Rectangle 16">
            <a:extLst>
              <a:ext uri="{FF2B5EF4-FFF2-40B4-BE49-F238E27FC236}">
                <a16:creationId xmlns:a16="http://schemas.microsoft.com/office/drawing/2014/main" id="{342F88FF-BE56-4663-BFA5-C6D40B180672}"/>
              </a:ext>
            </a:extLst>
          </p:cNvPr>
          <p:cNvSpPr/>
          <p:nvPr/>
        </p:nvSpPr>
        <p:spPr>
          <a:xfrm>
            <a:off x="216568" y="1022204"/>
            <a:ext cx="5596468" cy="923330"/>
          </a:xfrm>
          <a:prstGeom prst="rect">
            <a:avLst/>
          </a:prstGeom>
        </p:spPr>
        <p:txBody>
          <a:bodyPr wrap="none">
            <a:spAutoFit/>
          </a:bodyPr>
          <a:lstStyle/>
          <a:p>
            <a:r>
              <a:rPr lang="en-NZ" i="1" dirty="0">
                <a:solidFill>
                  <a:srgbClr val="0070C0"/>
                </a:solidFill>
              </a:rPr>
              <a:t>Idea: implement a similar form of distributed optimisation</a:t>
            </a:r>
          </a:p>
          <a:p>
            <a:r>
              <a:rPr lang="en-NZ" i="1" dirty="0">
                <a:solidFill>
                  <a:srgbClr val="0070C0"/>
                </a:solidFill>
              </a:rPr>
              <a:t> on hybrid AC/DC power grids</a:t>
            </a:r>
          </a:p>
          <a:p>
            <a:r>
              <a:rPr lang="en-NZ" i="1" dirty="0">
                <a:solidFill>
                  <a:srgbClr val="0070C0"/>
                </a:solidFill>
              </a:rPr>
              <a:t>	</a:t>
            </a:r>
            <a:endParaRPr lang="en-NZ" dirty="0"/>
          </a:p>
        </p:txBody>
      </p:sp>
      <p:pic>
        <p:nvPicPr>
          <p:cNvPr id="20" name="Picture 19">
            <a:extLst>
              <a:ext uri="{FF2B5EF4-FFF2-40B4-BE49-F238E27FC236}">
                <a16:creationId xmlns:a16="http://schemas.microsoft.com/office/drawing/2014/main" id="{38A79645-5C1D-4030-A020-5CD8266B2717}"/>
              </a:ext>
            </a:extLst>
          </p:cNvPr>
          <p:cNvPicPr>
            <a:picLocks noChangeAspect="1"/>
          </p:cNvPicPr>
          <p:nvPr/>
        </p:nvPicPr>
        <p:blipFill>
          <a:blip r:embed="rId4"/>
          <a:stretch>
            <a:fillRect/>
          </a:stretch>
        </p:blipFill>
        <p:spPr>
          <a:xfrm>
            <a:off x="7426207" y="5087923"/>
            <a:ext cx="4630723" cy="1770077"/>
          </a:xfrm>
          <a:prstGeom prst="rect">
            <a:avLst/>
          </a:prstGeom>
        </p:spPr>
      </p:pic>
      <p:pic>
        <p:nvPicPr>
          <p:cNvPr id="22" name="Picture 21">
            <a:extLst>
              <a:ext uri="{FF2B5EF4-FFF2-40B4-BE49-F238E27FC236}">
                <a16:creationId xmlns:a16="http://schemas.microsoft.com/office/drawing/2014/main" id="{4DDB08BF-1914-497A-B001-D424B8B57789}"/>
              </a:ext>
            </a:extLst>
          </p:cNvPr>
          <p:cNvPicPr>
            <a:picLocks noChangeAspect="1"/>
          </p:cNvPicPr>
          <p:nvPr/>
        </p:nvPicPr>
        <p:blipFill>
          <a:blip r:embed="rId5"/>
          <a:stretch>
            <a:fillRect/>
          </a:stretch>
        </p:blipFill>
        <p:spPr>
          <a:xfrm>
            <a:off x="284383" y="2007049"/>
            <a:ext cx="2416029" cy="1208015"/>
          </a:xfrm>
          <a:prstGeom prst="rect">
            <a:avLst/>
          </a:prstGeom>
        </p:spPr>
      </p:pic>
      <p:sp>
        <p:nvSpPr>
          <p:cNvPr id="23" name="Rectangle 22">
            <a:extLst>
              <a:ext uri="{FF2B5EF4-FFF2-40B4-BE49-F238E27FC236}">
                <a16:creationId xmlns:a16="http://schemas.microsoft.com/office/drawing/2014/main" id="{8357D710-706A-4CA5-8372-F3DD4BEE64AC}"/>
              </a:ext>
            </a:extLst>
          </p:cNvPr>
          <p:cNvSpPr/>
          <p:nvPr/>
        </p:nvSpPr>
        <p:spPr>
          <a:xfrm>
            <a:off x="3032246" y="1628462"/>
            <a:ext cx="1776577" cy="369332"/>
          </a:xfrm>
          <a:prstGeom prst="rect">
            <a:avLst/>
          </a:prstGeom>
        </p:spPr>
        <p:txBody>
          <a:bodyPr wrap="none">
            <a:spAutoFit/>
          </a:bodyPr>
          <a:lstStyle/>
          <a:p>
            <a:r>
              <a:rPr lang="en-NZ" i="1" dirty="0">
                <a:solidFill>
                  <a:srgbClr val="0070C0"/>
                </a:solidFill>
              </a:rPr>
              <a:t>System dynamics</a:t>
            </a:r>
            <a:endParaRPr lang="en-NZ" dirty="0"/>
          </a:p>
        </p:txBody>
      </p:sp>
      <p:pic>
        <p:nvPicPr>
          <p:cNvPr id="24" name="Picture 23">
            <a:extLst>
              <a:ext uri="{FF2B5EF4-FFF2-40B4-BE49-F238E27FC236}">
                <a16:creationId xmlns:a16="http://schemas.microsoft.com/office/drawing/2014/main" id="{2AD26DF5-90A4-4794-84A2-53559FA5645A}"/>
              </a:ext>
            </a:extLst>
          </p:cNvPr>
          <p:cNvPicPr>
            <a:picLocks noChangeAspect="1"/>
          </p:cNvPicPr>
          <p:nvPr/>
        </p:nvPicPr>
        <p:blipFill>
          <a:blip r:embed="rId6"/>
          <a:stretch>
            <a:fillRect/>
          </a:stretch>
        </p:blipFill>
        <p:spPr>
          <a:xfrm>
            <a:off x="3032246" y="2007049"/>
            <a:ext cx="4026716" cy="2650921"/>
          </a:xfrm>
          <a:prstGeom prst="rect">
            <a:avLst/>
          </a:prstGeom>
        </p:spPr>
      </p:pic>
      <p:pic>
        <p:nvPicPr>
          <p:cNvPr id="26" name="Picture 25">
            <a:extLst>
              <a:ext uri="{FF2B5EF4-FFF2-40B4-BE49-F238E27FC236}">
                <a16:creationId xmlns:a16="http://schemas.microsoft.com/office/drawing/2014/main" id="{B86F85FD-513F-43BB-83D6-3E18981FA9E1}"/>
              </a:ext>
            </a:extLst>
          </p:cNvPr>
          <p:cNvPicPr>
            <a:picLocks noChangeAspect="1"/>
          </p:cNvPicPr>
          <p:nvPr/>
        </p:nvPicPr>
        <p:blipFill>
          <a:blip r:embed="rId7"/>
          <a:stretch>
            <a:fillRect/>
          </a:stretch>
        </p:blipFill>
        <p:spPr>
          <a:xfrm>
            <a:off x="459320" y="4659644"/>
            <a:ext cx="1694333" cy="688322"/>
          </a:xfrm>
          <a:prstGeom prst="rect">
            <a:avLst/>
          </a:prstGeom>
        </p:spPr>
      </p:pic>
      <p:sp>
        <p:nvSpPr>
          <p:cNvPr id="28" name="Rectangle 27">
            <a:extLst>
              <a:ext uri="{FF2B5EF4-FFF2-40B4-BE49-F238E27FC236}">
                <a16:creationId xmlns:a16="http://schemas.microsoft.com/office/drawing/2014/main" id="{71F1897F-9C62-46E8-8AEB-53D497BB58B7}"/>
              </a:ext>
            </a:extLst>
          </p:cNvPr>
          <p:cNvSpPr/>
          <p:nvPr/>
        </p:nvSpPr>
        <p:spPr>
          <a:xfrm>
            <a:off x="284383" y="5562526"/>
            <a:ext cx="2350259" cy="923330"/>
          </a:xfrm>
          <a:prstGeom prst="rect">
            <a:avLst/>
          </a:prstGeom>
        </p:spPr>
        <p:txBody>
          <a:bodyPr wrap="none">
            <a:spAutoFit/>
          </a:bodyPr>
          <a:lstStyle/>
          <a:p>
            <a:r>
              <a:rPr lang="en-NZ" i="1" dirty="0">
                <a:solidFill>
                  <a:srgbClr val="0070C0"/>
                </a:solidFill>
              </a:rPr>
              <a:t>Control + Optimisation </a:t>
            </a:r>
          </a:p>
          <a:p>
            <a:r>
              <a:rPr lang="en-NZ" i="1" dirty="0">
                <a:solidFill>
                  <a:srgbClr val="0070C0"/>
                </a:solidFill>
              </a:rPr>
              <a:t>theory used to prove </a:t>
            </a:r>
          </a:p>
          <a:p>
            <a:r>
              <a:rPr lang="en-NZ" i="1" dirty="0">
                <a:solidFill>
                  <a:srgbClr val="0070C0"/>
                </a:solidFill>
              </a:rPr>
              <a:t>stability and optimality</a:t>
            </a:r>
            <a:endParaRPr lang="en-NZ" dirty="0"/>
          </a:p>
        </p:txBody>
      </p:sp>
      <p:pic>
        <p:nvPicPr>
          <p:cNvPr id="30" name="Picture 29">
            <a:extLst>
              <a:ext uri="{FF2B5EF4-FFF2-40B4-BE49-F238E27FC236}">
                <a16:creationId xmlns:a16="http://schemas.microsoft.com/office/drawing/2014/main" id="{936F128F-A26E-4042-A8F6-DF2BD58384D3}"/>
              </a:ext>
            </a:extLst>
          </p:cNvPr>
          <p:cNvPicPr>
            <a:picLocks noChangeAspect="1"/>
          </p:cNvPicPr>
          <p:nvPr/>
        </p:nvPicPr>
        <p:blipFill>
          <a:blip r:embed="rId8"/>
          <a:stretch>
            <a:fillRect/>
          </a:stretch>
        </p:blipFill>
        <p:spPr>
          <a:xfrm>
            <a:off x="2965134" y="5165402"/>
            <a:ext cx="4160939" cy="1526796"/>
          </a:xfrm>
          <a:prstGeom prst="rect">
            <a:avLst/>
          </a:prstGeom>
        </p:spPr>
      </p:pic>
    </p:spTree>
    <p:extLst>
      <p:ext uri="{BB962C8B-B14F-4D97-AF65-F5344CB8AC3E}">
        <p14:creationId xmlns:p14="http://schemas.microsoft.com/office/powerpoint/2010/main" val="1779310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4D0FF-6585-488A-B2EA-161C6775FD8F}"/>
              </a:ext>
            </a:extLst>
          </p:cNvPr>
          <p:cNvSpPr>
            <a:spLocks noGrp="1"/>
          </p:cNvSpPr>
          <p:nvPr>
            <p:ph type="title"/>
          </p:nvPr>
        </p:nvSpPr>
        <p:spPr/>
        <p:txBody>
          <a:bodyPr/>
          <a:lstStyle/>
          <a:p>
            <a:r>
              <a:rPr lang="en-NZ" dirty="0"/>
              <a:t>Linear Matrix Inequalities</a:t>
            </a:r>
          </a:p>
        </p:txBody>
      </p:sp>
      <p:sp>
        <p:nvSpPr>
          <p:cNvPr id="3" name="Content Placeholder 2">
            <a:extLst>
              <a:ext uri="{FF2B5EF4-FFF2-40B4-BE49-F238E27FC236}">
                <a16:creationId xmlns:a16="http://schemas.microsoft.com/office/drawing/2014/main" id="{E1358152-314E-4D86-8724-12C1858DCADA}"/>
              </a:ext>
            </a:extLst>
          </p:cNvPr>
          <p:cNvSpPr>
            <a:spLocks noGrp="1"/>
          </p:cNvSpPr>
          <p:nvPr>
            <p:ph idx="1"/>
          </p:nvPr>
        </p:nvSpPr>
        <p:spPr/>
        <p:txBody>
          <a:bodyPr/>
          <a:lstStyle/>
          <a:p>
            <a:r>
              <a:rPr lang="en-NZ" dirty="0"/>
              <a:t>State-of-the-art linear control techniques are usually based on Linear Matrix Inequalities (LMIs), where the control gains are the solution to a linear optimisation problem. Examples:</a:t>
            </a:r>
          </a:p>
          <a:p>
            <a:pPr lvl="1"/>
            <a:r>
              <a:rPr lang="en-NZ" dirty="0"/>
              <a:t>LQR (</a:t>
            </a:r>
            <a:r>
              <a:rPr lang="en-NZ" dirty="0" err="1"/>
              <a:t>Riccati</a:t>
            </a:r>
            <a:r>
              <a:rPr lang="en-NZ" dirty="0"/>
              <a:t> equations are LMIs)</a:t>
            </a:r>
          </a:p>
          <a:p>
            <a:pPr lvl="1"/>
            <a:r>
              <a:rPr lang="en-NZ" dirty="0"/>
              <a:t>Model predictive control</a:t>
            </a:r>
          </a:p>
          <a:p>
            <a:pPr lvl="1"/>
            <a:r>
              <a:rPr lang="en-NZ" dirty="0"/>
              <a:t>H-infinity, H2 control</a:t>
            </a:r>
          </a:p>
          <a:p>
            <a:pPr lvl="1"/>
            <a:r>
              <a:rPr lang="en-NZ" dirty="0"/>
              <a:t>Passivity-based control</a:t>
            </a:r>
          </a:p>
          <a:p>
            <a:pPr lvl="1"/>
            <a:r>
              <a:rPr lang="en-NZ" dirty="0"/>
              <a:t>Stability analysis</a:t>
            </a:r>
          </a:p>
          <a:p>
            <a:r>
              <a:rPr lang="en-NZ" sz="2000" dirty="0"/>
              <a:t>Further reading (if interested): </a:t>
            </a:r>
            <a:r>
              <a:rPr lang="en-NZ" sz="2000" dirty="0">
                <a:hlinkClick r:id="rId2"/>
              </a:rPr>
              <a:t>https://web.stanford.edu/~boyd/lmibook/lmibook.pdf</a:t>
            </a:r>
            <a:r>
              <a:rPr lang="en-NZ" sz="2000" dirty="0"/>
              <a:t> </a:t>
            </a:r>
          </a:p>
        </p:txBody>
      </p:sp>
    </p:spTree>
    <p:extLst>
      <p:ext uri="{BB962C8B-B14F-4D97-AF65-F5344CB8AC3E}">
        <p14:creationId xmlns:p14="http://schemas.microsoft.com/office/powerpoint/2010/main" val="4140384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B1DC864-FBD4-4B59-B4B1-347CAE533D1A}"/>
              </a:ext>
            </a:extLst>
          </p:cNvPr>
          <p:cNvSpPr txBox="1"/>
          <p:nvPr/>
        </p:nvSpPr>
        <p:spPr>
          <a:xfrm>
            <a:off x="4131023" y="165801"/>
            <a:ext cx="4178638" cy="646331"/>
          </a:xfrm>
          <a:prstGeom prst="rect">
            <a:avLst/>
          </a:prstGeom>
          <a:noFill/>
        </p:spPr>
        <p:txBody>
          <a:bodyPr wrap="square" rtlCol="0">
            <a:spAutoFit/>
          </a:bodyPr>
          <a:lstStyle/>
          <a:p>
            <a:r>
              <a:rPr lang="en-NZ" i="1" dirty="0">
                <a:solidFill>
                  <a:srgbClr val="0070C0"/>
                </a:solidFill>
              </a:rPr>
              <a:t>Data-driven control </a:t>
            </a:r>
          </a:p>
          <a:p>
            <a:r>
              <a:rPr lang="en-NZ" i="1" dirty="0">
                <a:solidFill>
                  <a:srgbClr val="0070C0"/>
                </a:solidFill>
              </a:rPr>
              <a:t>(Trickett, PMAPS 2024)</a:t>
            </a:r>
          </a:p>
        </p:txBody>
      </p:sp>
      <p:sp>
        <p:nvSpPr>
          <p:cNvPr id="6" name="TextBox 5">
            <a:extLst>
              <a:ext uri="{FF2B5EF4-FFF2-40B4-BE49-F238E27FC236}">
                <a16:creationId xmlns:a16="http://schemas.microsoft.com/office/drawing/2014/main" id="{0FFB3662-2BF6-4EBA-A8CC-E7DEC0485D61}"/>
              </a:ext>
            </a:extLst>
          </p:cNvPr>
          <p:cNvSpPr txBox="1"/>
          <p:nvPr/>
        </p:nvSpPr>
        <p:spPr>
          <a:xfrm>
            <a:off x="216569" y="165802"/>
            <a:ext cx="4178638" cy="646331"/>
          </a:xfrm>
          <a:prstGeom prst="rect">
            <a:avLst/>
          </a:prstGeom>
          <a:noFill/>
        </p:spPr>
        <p:txBody>
          <a:bodyPr wrap="square" rtlCol="0">
            <a:spAutoFit/>
          </a:bodyPr>
          <a:lstStyle/>
          <a:p>
            <a:r>
              <a:rPr lang="en-NZ" i="1" dirty="0">
                <a:solidFill>
                  <a:srgbClr val="0070C0"/>
                </a:solidFill>
              </a:rPr>
              <a:t>Scalable microgrid control </a:t>
            </a:r>
          </a:p>
          <a:p>
            <a:r>
              <a:rPr lang="en-NZ" i="1" dirty="0">
                <a:solidFill>
                  <a:srgbClr val="0070C0"/>
                </a:solidFill>
              </a:rPr>
              <a:t>(IEEE Trans. Smart Grid 2021)</a:t>
            </a:r>
          </a:p>
        </p:txBody>
      </p:sp>
      <p:pic>
        <p:nvPicPr>
          <p:cNvPr id="8" name="Picture 7">
            <a:extLst>
              <a:ext uri="{FF2B5EF4-FFF2-40B4-BE49-F238E27FC236}">
                <a16:creationId xmlns:a16="http://schemas.microsoft.com/office/drawing/2014/main" id="{B519EC31-BE60-4A36-B247-E9E46802A7E1}"/>
              </a:ext>
            </a:extLst>
          </p:cNvPr>
          <p:cNvPicPr>
            <a:picLocks noChangeAspect="1"/>
          </p:cNvPicPr>
          <p:nvPr/>
        </p:nvPicPr>
        <p:blipFill>
          <a:blip r:embed="rId2"/>
          <a:stretch>
            <a:fillRect/>
          </a:stretch>
        </p:blipFill>
        <p:spPr>
          <a:xfrm>
            <a:off x="411073" y="2953226"/>
            <a:ext cx="2432619" cy="1723105"/>
          </a:xfrm>
          <a:prstGeom prst="rect">
            <a:avLst/>
          </a:prstGeom>
        </p:spPr>
      </p:pic>
      <p:sp>
        <p:nvSpPr>
          <p:cNvPr id="12" name="Rectangle 11">
            <a:extLst>
              <a:ext uri="{FF2B5EF4-FFF2-40B4-BE49-F238E27FC236}">
                <a16:creationId xmlns:a16="http://schemas.microsoft.com/office/drawing/2014/main" id="{9824C616-66CC-4BC2-B165-414C1844C511}"/>
              </a:ext>
            </a:extLst>
          </p:cNvPr>
          <p:cNvSpPr/>
          <p:nvPr/>
        </p:nvSpPr>
        <p:spPr>
          <a:xfrm>
            <a:off x="169593" y="879278"/>
            <a:ext cx="1324145" cy="369332"/>
          </a:xfrm>
          <a:prstGeom prst="rect">
            <a:avLst/>
          </a:prstGeom>
        </p:spPr>
        <p:txBody>
          <a:bodyPr wrap="none">
            <a:spAutoFit/>
          </a:bodyPr>
          <a:lstStyle/>
          <a:p>
            <a:r>
              <a:rPr lang="en-NZ" i="1" dirty="0">
                <a:solidFill>
                  <a:srgbClr val="0070C0"/>
                </a:solidFill>
              </a:rPr>
              <a:t>Formulation</a:t>
            </a:r>
            <a:endParaRPr lang="en-NZ" dirty="0"/>
          </a:p>
        </p:txBody>
      </p:sp>
      <p:pic>
        <p:nvPicPr>
          <p:cNvPr id="13" name="Picture 12">
            <a:extLst>
              <a:ext uri="{FF2B5EF4-FFF2-40B4-BE49-F238E27FC236}">
                <a16:creationId xmlns:a16="http://schemas.microsoft.com/office/drawing/2014/main" id="{002708DC-8746-44CC-8A08-D063B46D6AE3}"/>
              </a:ext>
            </a:extLst>
          </p:cNvPr>
          <p:cNvPicPr>
            <a:picLocks noChangeAspect="1"/>
          </p:cNvPicPr>
          <p:nvPr/>
        </p:nvPicPr>
        <p:blipFill>
          <a:blip r:embed="rId3"/>
          <a:stretch>
            <a:fillRect/>
          </a:stretch>
        </p:blipFill>
        <p:spPr>
          <a:xfrm>
            <a:off x="169593" y="1248610"/>
            <a:ext cx="3035837" cy="1816525"/>
          </a:xfrm>
          <a:prstGeom prst="rect">
            <a:avLst/>
          </a:prstGeom>
        </p:spPr>
      </p:pic>
      <p:sp>
        <p:nvSpPr>
          <p:cNvPr id="14" name="Rectangle 13">
            <a:extLst>
              <a:ext uri="{FF2B5EF4-FFF2-40B4-BE49-F238E27FC236}">
                <a16:creationId xmlns:a16="http://schemas.microsoft.com/office/drawing/2014/main" id="{8C5A2ED8-2459-49FE-8AC3-925739DE2A00}"/>
              </a:ext>
            </a:extLst>
          </p:cNvPr>
          <p:cNvSpPr/>
          <p:nvPr/>
        </p:nvSpPr>
        <p:spPr>
          <a:xfrm>
            <a:off x="175501" y="2974274"/>
            <a:ext cx="843629" cy="369332"/>
          </a:xfrm>
          <a:prstGeom prst="rect">
            <a:avLst/>
          </a:prstGeom>
        </p:spPr>
        <p:txBody>
          <a:bodyPr wrap="none">
            <a:spAutoFit/>
          </a:bodyPr>
          <a:lstStyle/>
          <a:p>
            <a:r>
              <a:rPr lang="en-NZ" i="1" dirty="0">
                <a:solidFill>
                  <a:srgbClr val="0070C0"/>
                </a:solidFill>
              </a:rPr>
              <a:t>System</a:t>
            </a:r>
            <a:endParaRPr lang="en-NZ" dirty="0"/>
          </a:p>
        </p:txBody>
      </p:sp>
      <p:sp>
        <p:nvSpPr>
          <p:cNvPr id="15" name="Rectangle 14">
            <a:extLst>
              <a:ext uri="{FF2B5EF4-FFF2-40B4-BE49-F238E27FC236}">
                <a16:creationId xmlns:a16="http://schemas.microsoft.com/office/drawing/2014/main" id="{ED8201F0-839A-4373-90D5-1CD6EC63172E}"/>
              </a:ext>
            </a:extLst>
          </p:cNvPr>
          <p:cNvSpPr/>
          <p:nvPr/>
        </p:nvSpPr>
        <p:spPr>
          <a:xfrm>
            <a:off x="169593" y="4442531"/>
            <a:ext cx="1378006" cy="369332"/>
          </a:xfrm>
          <a:prstGeom prst="rect">
            <a:avLst/>
          </a:prstGeom>
        </p:spPr>
        <p:txBody>
          <a:bodyPr wrap="none">
            <a:spAutoFit/>
          </a:bodyPr>
          <a:lstStyle/>
          <a:p>
            <a:r>
              <a:rPr lang="en-NZ" i="1" dirty="0">
                <a:solidFill>
                  <a:srgbClr val="0070C0"/>
                </a:solidFill>
              </a:rPr>
              <a:t>Performance</a:t>
            </a:r>
            <a:endParaRPr lang="en-NZ" dirty="0"/>
          </a:p>
        </p:txBody>
      </p:sp>
      <p:pic>
        <p:nvPicPr>
          <p:cNvPr id="16" name="Picture 15">
            <a:extLst>
              <a:ext uri="{FF2B5EF4-FFF2-40B4-BE49-F238E27FC236}">
                <a16:creationId xmlns:a16="http://schemas.microsoft.com/office/drawing/2014/main" id="{8EA63F4B-7ED4-4C8C-A53E-6245FEF7612D}"/>
              </a:ext>
            </a:extLst>
          </p:cNvPr>
          <p:cNvPicPr>
            <a:picLocks noChangeAspect="1"/>
          </p:cNvPicPr>
          <p:nvPr/>
        </p:nvPicPr>
        <p:blipFill>
          <a:blip r:embed="rId4"/>
          <a:stretch>
            <a:fillRect/>
          </a:stretch>
        </p:blipFill>
        <p:spPr>
          <a:xfrm>
            <a:off x="169593" y="4739507"/>
            <a:ext cx="3087149" cy="1090569"/>
          </a:xfrm>
          <a:prstGeom prst="rect">
            <a:avLst/>
          </a:prstGeom>
        </p:spPr>
      </p:pic>
      <p:pic>
        <p:nvPicPr>
          <p:cNvPr id="17" name="Picture 16">
            <a:extLst>
              <a:ext uri="{FF2B5EF4-FFF2-40B4-BE49-F238E27FC236}">
                <a16:creationId xmlns:a16="http://schemas.microsoft.com/office/drawing/2014/main" id="{D12DBE25-99CE-4AEE-AEBF-DB0596A7A0E3}"/>
              </a:ext>
            </a:extLst>
          </p:cNvPr>
          <p:cNvPicPr>
            <a:picLocks noChangeAspect="1"/>
          </p:cNvPicPr>
          <p:nvPr/>
        </p:nvPicPr>
        <p:blipFill>
          <a:blip r:embed="rId5"/>
          <a:stretch>
            <a:fillRect/>
          </a:stretch>
        </p:blipFill>
        <p:spPr>
          <a:xfrm>
            <a:off x="284831" y="5725486"/>
            <a:ext cx="3020037" cy="1132514"/>
          </a:xfrm>
          <a:prstGeom prst="rect">
            <a:avLst/>
          </a:prstGeom>
        </p:spPr>
      </p:pic>
      <p:grpSp>
        <p:nvGrpSpPr>
          <p:cNvPr id="32" name="Group 31">
            <a:extLst>
              <a:ext uri="{FF2B5EF4-FFF2-40B4-BE49-F238E27FC236}">
                <a16:creationId xmlns:a16="http://schemas.microsoft.com/office/drawing/2014/main" id="{7DFDDFD7-EEC3-40CA-8DC9-A5425AF3CA79}"/>
              </a:ext>
            </a:extLst>
          </p:cNvPr>
          <p:cNvGrpSpPr/>
          <p:nvPr/>
        </p:nvGrpSpPr>
        <p:grpSpPr>
          <a:xfrm>
            <a:off x="4131023" y="879277"/>
            <a:ext cx="3295463" cy="5978723"/>
            <a:chOff x="3935841" y="879277"/>
            <a:chExt cx="3295463" cy="5978723"/>
          </a:xfrm>
        </p:grpSpPr>
        <p:pic>
          <p:nvPicPr>
            <p:cNvPr id="4" name="Picture 3">
              <a:extLst>
                <a:ext uri="{FF2B5EF4-FFF2-40B4-BE49-F238E27FC236}">
                  <a16:creationId xmlns:a16="http://schemas.microsoft.com/office/drawing/2014/main" id="{FC6D9155-FFCA-4BA5-963F-622B2C5CCA0C}"/>
                </a:ext>
              </a:extLst>
            </p:cNvPr>
            <p:cNvPicPr>
              <a:picLocks noChangeAspect="1"/>
            </p:cNvPicPr>
            <p:nvPr/>
          </p:nvPicPr>
          <p:blipFill>
            <a:blip r:embed="rId6"/>
            <a:stretch>
              <a:fillRect/>
            </a:stretch>
          </p:blipFill>
          <p:spPr>
            <a:xfrm>
              <a:off x="4003171" y="1248610"/>
              <a:ext cx="2477843" cy="1029258"/>
            </a:xfrm>
            <a:prstGeom prst="rect">
              <a:avLst/>
            </a:prstGeom>
          </p:spPr>
        </p:pic>
        <p:sp>
          <p:nvSpPr>
            <p:cNvPr id="18" name="Rectangle 17">
              <a:extLst>
                <a:ext uri="{FF2B5EF4-FFF2-40B4-BE49-F238E27FC236}">
                  <a16:creationId xmlns:a16="http://schemas.microsoft.com/office/drawing/2014/main" id="{6B35327E-1CFC-454D-AF8F-661707EFFC22}"/>
                </a:ext>
              </a:extLst>
            </p:cNvPr>
            <p:cNvSpPr/>
            <p:nvPr/>
          </p:nvSpPr>
          <p:spPr>
            <a:xfrm>
              <a:off x="3980930" y="879277"/>
              <a:ext cx="1324145" cy="369332"/>
            </a:xfrm>
            <a:prstGeom prst="rect">
              <a:avLst/>
            </a:prstGeom>
          </p:spPr>
          <p:txBody>
            <a:bodyPr wrap="none">
              <a:spAutoFit/>
            </a:bodyPr>
            <a:lstStyle/>
            <a:p>
              <a:r>
                <a:rPr lang="en-NZ" i="1" dirty="0">
                  <a:solidFill>
                    <a:srgbClr val="0070C0"/>
                  </a:solidFill>
                </a:rPr>
                <a:t>Formulation</a:t>
              </a:r>
              <a:endParaRPr lang="en-NZ" dirty="0"/>
            </a:p>
          </p:txBody>
        </p:sp>
        <p:pic>
          <p:nvPicPr>
            <p:cNvPr id="20" name="Picture 19">
              <a:extLst>
                <a:ext uri="{FF2B5EF4-FFF2-40B4-BE49-F238E27FC236}">
                  <a16:creationId xmlns:a16="http://schemas.microsoft.com/office/drawing/2014/main" id="{93661B50-B4AD-4D27-8809-099D8090B71A}"/>
                </a:ext>
              </a:extLst>
            </p:cNvPr>
            <p:cNvPicPr>
              <a:picLocks noChangeAspect="1"/>
            </p:cNvPicPr>
            <p:nvPr/>
          </p:nvPicPr>
          <p:blipFill>
            <a:blip r:embed="rId7"/>
            <a:stretch>
              <a:fillRect/>
            </a:stretch>
          </p:blipFill>
          <p:spPr>
            <a:xfrm>
              <a:off x="4196538" y="2574542"/>
              <a:ext cx="2774071" cy="1387036"/>
            </a:xfrm>
            <a:prstGeom prst="rect">
              <a:avLst/>
            </a:prstGeom>
          </p:spPr>
        </p:pic>
        <p:sp>
          <p:nvSpPr>
            <p:cNvPr id="21" name="Rectangle 20">
              <a:extLst>
                <a:ext uri="{FF2B5EF4-FFF2-40B4-BE49-F238E27FC236}">
                  <a16:creationId xmlns:a16="http://schemas.microsoft.com/office/drawing/2014/main" id="{DE23B9A3-1460-436D-9FD1-B83C1F2861D8}"/>
                </a:ext>
              </a:extLst>
            </p:cNvPr>
            <p:cNvSpPr/>
            <p:nvPr/>
          </p:nvSpPr>
          <p:spPr>
            <a:xfrm>
              <a:off x="3980930" y="2277471"/>
              <a:ext cx="843629" cy="369332"/>
            </a:xfrm>
            <a:prstGeom prst="rect">
              <a:avLst/>
            </a:prstGeom>
          </p:spPr>
          <p:txBody>
            <a:bodyPr wrap="none">
              <a:spAutoFit/>
            </a:bodyPr>
            <a:lstStyle/>
            <a:p>
              <a:r>
                <a:rPr lang="en-NZ" i="1" dirty="0">
                  <a:solidFill>
                    <a:srgbClr val="0070C0"/>
                  </a:solidFill>
                </a:rPr>
                <a:t>System</a:t>
              </a:r>
              <a:endParaRPr lang="en-NZ" dirty="0"/>
            </a:p>
          </p:txBody>
        </p:sp>
        <p:pic>
          <p:nvPicPr>
            <p:cNvPr id="22" name="Picture 21">
              <a:extLst>
                <a:ext uri="{FF2B5EF4-FFF2-40B4-BE49-F238E27FC236}">
                  <a16:creationId xmlns:a16="http://schemas.microsoft.com/office/drawing/2014/main" id="{3C61F8A2-2A55-4889-A14D-3B57670187C7}"/>
                </a:ext>
              </a:extLst>
            </p:cNvPr>
            <p:cNvPicPr>
              <a:picLocks noChangeAspect="1"/>
            </p:cNvPicPr>
            <p:nvPr/>
          </p:nvPicPr>
          <p:blipFill>
            <a:blip r:embed="rId8"/>
            <a:stretch>
              <a:fillRect/>
            </a:stretch>
          </p:blipFill>
          <p:spPr>
            <a:xfrm>
              <a:off x="3935841" y="4186389"/>
              <a:ext cx="3295463" cy="2671611"/>
            </a:xfrm>
            <a:prstGeom prst="rect">
              <a:avLst/>
            </a:prstGeom>
          </p:spPr>
        </p:pic>
        <p:sp>
          <p:nvSpPr>
            <p:cNvPr id="23" name="Rectangle 22">
              <a:extLst>
                <a:ext uri="{FF2B5EF4-FFF2-40B4-BE49-F238E27FC236}">
                  <a16:creationId xmlns:a16="http://schemas.microsoft.com/office/drawing/2014/main" id="{51EAA435-28FF-49B2-8E4B-D130646FDC80}"/>
                </a:ext>
              </a:extLst>
            </p:cNvPr>
            <p:cNvSpPr/>
            <p:nvPr/>
          </p:nvSpPr>
          <p:spPr>
            <a:xfrm>
              <a:off x="4003171" y="3935635"/>
              <a:ext cx="1378006" cy="369332"/>
            </a:xfrm>
            <a:prstGeom prst="rect">
              <a:avLst/>
            </a:prstGeom>
          </p:spPr>
          <p:txBody>
            <a:bodyPr wrap="none">
              <a:spAutoFit/>
            </a:bodyPr>
            <a:lstStyle/>
            <a:p>
              <a:r>
                <a:rPr lang="en-NZ" i="1" dirty="0">
                  <a:solidFill>
                    <a:srgbClr val="0070C0"/>
                  </a:solidFill>
                </a:rPr>
                <a:t>Performance</a:t>
              </a:r>
              <a:endParaRPr lang="en-NZ" dirty="0"/>
            </a:p>
          </p:txBody>
        </p:sp>
      </p:grpSp>
      <p:sp>
        <p:nvSpPr>
          <p:cNvPr id="24" name="TextBox 23">
            <a:extLst>
              <a:ext uri="{FF2B5EF4-FFF2-40B4-BE49-F238E27FC236}">
                <a16:creationId xmlns:a16="http://schemas.microsoft.com/office/drawing/2014/main" id="{5F6F6037-6C8B-4F21-9AF5-2015A5A6AA36}"/>
              </a:ext>
            </a:extLst>
          </p:cNvPr>
          <p:cNvSpPr txBox="1"/>
          <p:nvPr/>
        </p:nvSpPr>
        <p:spPr>
          <a:xfrm>
            <a:off x="7684169" y="165801"/>
            <a:ext cx="4413584" cy="646331"/>
          </a:xfrm>
          <a:prstGeom prst="rect">
            <a:avLst/>
          </a:prstGeom>
          <a:noFill/>
        </p:spPr>
        <p:txBody>
          <a:bodyPr wrap="square" rtlCol="0">
            <a:spAutoFit/>
          </a:bodyPr>
          <a:lstStyle/>
          <a:p>
            <a:r>
              <a:rPr lang="en-NZ" i="1" dirty="0">
                <a:solidFill>
                  <a:srgbClr val="0070C0"/>
                </a:solidFill>
              </a:rPr>
              <a:t>Inverse optimal and passivity-based control </a:t>
            </a:r>
          </a:p>
          <a:p>
            <a:r>
              <a:rPr lang="en-NZ" i="1" dirty="0">
                <a:solidFill>
                  <a:srgbClr val="0070C0"/>
                </a:solidFill>
              </a:rPr>
              <a:t>(Hallinan, IEEE CDC 2023)</a:t>
            </a:r>
          </a:p>
        </p:txBody>
      </p:sp>
      <p:sp>
        <p:nvSpPr>
          <p:cNvPr id="25" name="Rectangle 24">
            <a:extLst>
              <a:ext uri="{FF2B5EF4-FFF2-40B4-BE49-F238E27FC236}">
                <a16:creationId xmlns:a16="http://schemas.microsoft.com/office/drawing/2014/main" id="{B084851A-428E-4575-B897-6F8380552BDD}"/>
              </a:ext>
            </a:extLst>
          </p:cNvPr>
          <p:cNvSpPr/>
          <p:nvPr/>
        </p:nvSpPr>
        <p:spPr>
          <a:xfrm>
            <a:off x="7725425" y="879277"/>
            <a:ext cx="1324145" cy="369332"/>
          </a:xfrm>
          <a:prstGeom prst="rect">
            <a:avLst/>
          </a:prstGeom>
        </p:spPr>
        <p:txBody>
          <a:bodyPr wrap="none">
            <a:spAutoFit/>
          </a:bodyPr>
          <a:lstStyle/>
          <a:p>
            <a:r>
              <a:rPr lang="en-NZ" i="1" dirty="0">
                <a:solidFill>
                  <a:srgbClr val="0070C0"/>
                </a:solidFill>
              </a:rPr>
              <a:t>Formulation</a:t>
            </a:r>
            <a:endParaRPr lang="en-NZ" dirty="0"/>
          </a:p>
        </p:txBody>
      </p:sp>
      <p:pic>
        <p:nvPicPr>
          <p:cNvPr id="26" name="Picture 25">
            <a:extLst>
              <a:ext uri="{FF2B5EF4-FFF2-40B4-BE49-F238E27FC236}">
                <a16:creationId xmlns:a16="http://schemas.microsoft.com/office/drawing/2014/main" id="{FD3B2ADD-BB6D-4572-AFA3-40AF0750657D}"/>
              </a:ext>
            </a:extLst>
          </p:cNvPr>
          <p:cNvPicPr>
            <a:picLocks noChangeAspect="1"/>
          </p:cNvPicPr>
          <p:nvPr/>
        </p:nvPicPr>
        <p:blipFill>
          <a:blip r:embed="rId9"/>
          <a:stretch>
            <a:fillRect/>
          </a:stretch>
        </p:blipFill>
        <p:spPr>
          <a:xfrm>
            <a:off x="7767902" y="1268153"/>
            <a:ext cx="2829664" cy="2149197"/>
          </a:xfrm>
          <a:prstGeom prst="rect">
            <a:avLst/>
          </a:prstGeom>
        </p:spPr>
      </p:pic>
      <p:pic>
        <p:nvPicPr>
          <p:cNvPr id="27" name="Picture 26">
            <a:extLst>
              <a:ext uri="{FF2B5EF4-FFF2-40B4-BE49-F238E27FC236}">
                <a16:creationId xmlns:a16="http://schemas.microsoft.com/office/drawing/2014/main" id="{AC1D952D-8336-416D-A30E-F7639A3479F9}"/>
              </a:ext>
            </a:extLst>
          </p:cNvPr>
          <p:cNvPicPr>
            <a:picLocks noChangeAspect="1"/>
          </p:cNvPicPr>
          <p:nvPr/>
        </p:nvPicPr>
        <p:blipFill>
          <a:blip r:embed="rId10"/>
          <a:stretch>
            <a:fillRect/>
          </a:stretch>
        </p:blipFill>
        <p:spPr>
          <a:xfrm>
            <a:off x="7767902" y="4451508"/>
            <a:ext cx="3066053" cy="2299540"/>
          </a:xfrm>
          <a:prstGeom prst="rect">
            <a:avLst/>
          </a:prstGeom>
        </p:spPr>
      </p:pic>
      <p:sp>
        <p:nvSpPr>
          <p:cNvPr id="28" name="Rectangle 27">
            <a:extLst>
              <a:ext uri="{FF2B5EF4-FFF2-40B4-BE49-F238E27FC236}">
                <a16:creationId xmlns:a16="http://schemas.microsoft.com/office/drawing/2014/main" id="{6475D59D-430C-42D0-A88E-DA4F9E7F75F2}"/>
              </a:ext>
            </a:extLst>
          </p:cNvPr>
          <p:cNvSpPr/>
          <p:nvPr/>
        </p:nvSpPr>
        <p:spPr>
          <a:xfrm>
            <a:off x="7698494" y="4155381"/>
            <a:ext cx="1378006" cy="369332"/>
          </a:xfrm>
          <a:prstGeom prst="rect">
            <a:avLst/>
          </a:prstGeom>
        </p:spPr>
        <p:txBody>
          <a:bodyPr wrap="none">
            <a:spAutoFit/>
          </a:bodyPr>
          <a:lstStyle/>
          <a:p>
            <a:r>
              <a:rPr lang="en-NZ" i="1" dirty="0">
                <a:solidFill>
                  <a:srgbClr val="0070C0"/>
                </a:solidFill>
              </a:rPr>
              <a:t>Performance</a:t>
            </a:r>
            <a:endParaRPr lang="en-NZ" dirty="0"/>
          </a:p>
        </p:txBody>
      </p:sp>
      <p:pic>
        <p:nvPicPr>
          <p:cNvPr id="29" name="Picture 28">
            <a:extLst>
              <a:ext uri="{FF2B5EF4-FFF2-40B4-BE49-F238E27FC236}">
                <a16:creationId xmlns:a16="http://schemas.microsoft.com/office/drawing/2014/main" id="{40F35961-8CC4-4E2F-B46C-9B48D778272F}"/>
              </a:ext>
            </a:extLst>
          </p:cNvPr>
          <p:cNvPicPr>
            <a:picLocks noChangeAspect="1"/>
          </p:cNvPicPr>
          <p:nvPr/>
        </p:nvPicPr>
        <p:blipFill>
          <a:blip r:embed="rId11"/>
          <a:stretch>
            <a:fillRect/>
          </a:stretch>
        </p:blipFill>
        <p:spPr>
          <a:xfrm>
            <a:off x="8624087" y="3457018"/>
            <a:ext cx="1720980" cy="773097"/>
          </a:xfrm>
          <a:prstGeom prst="rect">
            <a:avLst/>
          </a:prstGeom>
        </p:spPr>
      </p:pic>
      <p:sp>
        <p:nvSpPr>
          <p:cNvPr id="30" name="Rectangle 29">
            <a:extLst>
              <a:ext uri="{FF2B5EF4-FFF2-40B4-BE49-F238E27FC236}">
                <a16:creationId xmlns:a16="http://schemas.microsoft.com/office/drawing/2014/main" id="{92444121-5851-4428-8053-65F2A42FCBE5}"/>
              </a:ext>
            </a:extLst>
          </p:cNvPr>
          <p:cNvSpPr/>
          <p:nvPr/>
        </p:nvSpPr>
        <p:spPr>
          <a:xfrm>
            <a:off x="7684169" y="3432537"/>
            <a:ext cx="843629" cy="369332"/>
          </a:xfrm>
          <a:prstGeom prst="rect">
            <a:avLst/>
          </a:prstGeom>
        </p:spPr>
        <p:txBody>
          <a:bodyPr wrap="none">
            <a:spAutoFit/>
          </a:bodyPr>
          <a:lstStyle/>
          <a:p>
            <a:r>
              <a:rPr lang="en-NZ" i="1" dirty="0">
                <a:solidFill>
                  <a:srgbClr val="0070C0"/>
                </a:solidFill>
              </a:rPr>
              <a:t>System</a:t>
            </a:r>
            <a:endParaRPr lang="en-NZ" dirty="0"/>
          </a:p>
        </p:txBody>
      </p:sp>
      <p:pic>
        <p:nvPicPr>
          <p:cNvPr id="31" name="Picture 30">
            <a:extLst>
              <a:ext uri="{FF2B5EF4-FFF2-40B4-BE49-F238E27FC236}">
                <a16:creationId xmlns:a16="http://schemas.microsoft.com/office/drawing/2014/main" id="{8DFED973-799F-4FEF-97BF-68DEEC82D9C2}"/>
              </a:ext>
            </a:extLst>
          </p:cNvPr>
          <p:cNvPicPr>
            <a:picLocks noChangeAspect="1"/>
          </p:cNvPicPr>
          <p:nvPr/>
        </p:nvPicPr>
        <p:blipFill>
          <a:blip r:embed="rId12"/>
          <a:stretch>
            <a:fillRect/>
          </a:stretch>
        </p:blipFill>
        <p:spPr>
          <a:xfrm>
            <a:off x="10606547" y="3430421"/>
            <a:ext cx="1391998" cy="1062314"/>
          </a:xfrm>
          <a:prstGeom prst="rect">
            <a:avLst/>
          </a:prstGeom>
        </p:spPr>
      </p:pic>
    </p:spTree>
    <p:extLst>
      <p:ext uri="{BB962C8B-B14F-4D97-AF65-F5344CB8AC3E}">
        <p14:creationId xmlns:p14="http://schemas.microsoft.com/office/powerpoint/2010/main" val="864793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CE75552-D220-41EB-A87C-EC86B30DC6AD}"/>
              </a:ext>
            </a:extLst>
          </p:cNvPr>
          <p:cNvPicPr>
            <a:picLocks noChangeAspect="1"/>
          </p:cNvPicPr>
          <p:nvPr/>
        </p:nvPicPr>
        <p:blipFill>
          <a:blip r:embed="rId2"/>
          <a:stretch>
            <a:fillRect/>
          </a:stretch>
        </p:blipFill>
        <p:spPr>
          <a:xfrm>
            <a:off x="8706618" y="1217151"/>
            <a:ext cx="3278689" cy="2579522"/>
          </a:xfrm>
          <a:prstGeom prst="rect">
            <a:avLst/>
          </a:prstGeom>
        </p:spPr>
      </p:pic>
      <p:sp>
        <p:nvSpPr>
          <p:cNvPr id="2" name="Title 1">
            <a:extLst>
              <a:ext uri="{FF2B5EF4-FFF2-40B4-BE49-F238E27FC236}">
                <a16:creationId xmlns:a16="http://schemas.microsoft.com/office/drawing/2014/main" id="{5B383FE7-D81D-4857-B2FD-5051EC711737}"/>
              </a:ext>
            </a:extLst>
          </p:cNvPr>
          <p:cNvSpPr>
            <a:spLocks noGrp="1"/>
          </p:cNvSpPr>
          <p:nvPr>
            <p:ph type="title"/>
          </p:nvPr>
        </p:nvSpPr>
        <p:spPr/>
        <p:txBody>
          <a:bodyPr>
            <a:normAutofit/>
          </a:bodyPr>
          <a:lstStyle/>
          <a:p>
            <a:r>
              <a:rPr lang="en-NZ" dirty="0"/>
              <a:t>Unbalanced optimal power-flow</a:t>
            </a:r>
          </a:p>
        </p:txBody>
      </p:sp>
      <p:sp>
        <p:nvSpPr>
          <p:cNvPr id="3" name="Content Placeholder 2">
            <a:extLst>
              <a:ext uri="{FF2B5EF4-FFF2-40B4-BE49-F238E27FC236}">
                <a16:creationId xmlns:a16="http://schemas.microsoft.com/office/drawing/2014/main" id="{BC1B4A9A-D0BB-4F4A-B8DD-91F5AF8AE477}"/>
              </a:ext>
            </a:extLst>
          </p:cNvPr>
          <p:cNvSpPr>
            <a:spLocks noGrp="1"/>
          </p:cNvSpPr>
          <p:nvPr>
            <p:ph idx="1"/>
          </p:nvPr>
        </p:nvSpPr>
        <p:spPr>
          <a:xfrm>
            <a:off x="640185" y="1391250"/>
            <a:ext cx="7168816" cy="4351338"/>
          </a:xfrm>
        </p:spPr>
        <p:txBody>
          <a:bodyPr>
            <a:normAutofit/>
          </a:bodyPr>
          <a:lstStyle/>
          <a:p>
            <a:r>
              <a:rPr lang="en-NZ" sz="2000" dirty="0"/>
              <a:t>Back in 2017, optimal power-flow for unbalanced networks was mostly unexplored. </a:t>
            </a:r>
          </a:p>
          <a:p>
            <a:r>
              <a:rPr lang="en-NZ" sz="2000" dirty="0"/>
              <a:t>Published in IEEE Trans. Sustainable Energy.</a:t>
            </a:r>
          </a:p>
        </p:txBody>
      </p:sp>
      <p:pic>
        <p:nvPicPr>
          <p:cNvPr id="4" name="Picture 3">
            <a:extLst>
              <a:ext uri="{FF2B5EF4-FFF2-40B4-BE49-F238E27FC236}">
                <a16:creationId xmlns:a16="http://schemas.microsoft.com/office/drawing/2014/main" id="{B455F6F2-908A-45DD-AD8F-6F10F439A022}"/>
              </a:ext>
            </a:extLst>
          </p:cNvPr>
          <p:cNvPicPr>
            <a:picLocks noChangeAspect="1"/>
          </p:cNvPicPr>
          <p:nvPr/>
        </p:nvPicPr>
        <p:blipFill>
          <a:blip r:embed="rId3"/>
          <a:stretch>
            <a:fillRect/>
          </a:stretch>
        </p:blipFill>
        <p:spPr>
          <a:xfrm>
            <a:off x="8612754" y="4199021"/>
            <a:ext cx="3384585" cy="2658979"/>
          </a:xfrm>
          <a:prstGeom prst="rect">
            <a:avLst/>
          </a:prstGeom>
        </p:spPr>
      </p:pic>
      <p:sp>
        <p:nvSpPr>
          <p:cNvPr id="5" name="TextBox 4">
            <a:extLst>
              <a:ext uri="{FF2B5EF4-FFF2-40B4-BE49-F238E27FC236}">
                <a16:creationId xmlns:a16="http://schemas.microsoft.com/office/drawing/2014/main" id="{5BE7B6F7-5484-4548-B191-FF5091580162}"/>
              </a:ext>
            </a:extLst>
          </p:cNvPr>
          <p:cNvSpPr txBox="1"/>
          <p:nvPr/>
        </p:nvSpPr>
        <p:spPr>
          <a:xfrm>
            <a:off x="9005636" y="3761078"/>
            <a:ext cx="3260558" cy="369332"/>
          </a:xfrm>
          <a:prstGeom prst="rect">
            <a:avLst/>
          </a:prstGeom>
          <a:noFill/>
        </p:spPr>
        <p:txBody>
          <a:bodyPr wrap="square" rtlCol="0">
            <a:spAutoFit/>
          </a:bodyPr>
          <a:lstStyle/>
          <a:p>
            <a:r>
              <a:rPr lang="en-NZ" dirty="0"/>
              <a:t>22% reduction in energy losses</a:t>
            </a:r>
          </a:p>
        </p:txBody>
      </p:sp>
      <p:sp>
        <p:nvSpPr>
          <p:cNvPr id="9" name="TextBox 8">
            <a:extLst>
              <a:ext uri="{FF2B5EF4-FFF2-40B4-BE49-F238E27FC236}">
                <a16:creationId xmlns:a16="http://schemas.microsoft.com/office/drawing/2014/main" id="{BC569196-FF8C-4A5B-861F-A2C3CA83E69C}"/>
              </a:ext>
            </a:extLst>
          </p:cNvPr>
          <p:cNvSpPr txBox="1"/>
          <p:nvPr/>
        </p:nvSpPr>
        <p:spPr>
          <a:xfrm>
            <a:off x="8865193" y="570820"/>
            <a:ext cx="3260558" cy="646331"/>
          </a:xfrm>
          <a:prstGeom prst="rect">
            <a:avLst/>
          </a:prstGeom>
          <a:noFill/>
        </p:spPr>
        <p:txBody>
          <a:bodyPr wrap="square" rtlCol="0">
            <a:spAutoFit/>
          </a:bodyPr>
          <a:lstStyle/>
          <a:p>
            <a:r>
              <a:rPr lang="en-NZ" i="1" dirty="0">
                <a:solidFill>
                  <a:srgbClr val="0070C0"/>
                </a:solidFill>
              </a:rPr>
              <a:t>Results</a:t>
            </a:r>
          </a:p>
          <a:p>
            <a:r>
              <a:rPr lang="en-NZ" dirty="0"/>
              <a:t>Less computational expense</a:t>
            </a:r>
          </a:p>
        </p:txBody>
      </p:sp>
      <p:pic>
        <p:nvPicPr>
          <p:cNvPr id="10" name="Picture 9">
            <a:extLst>
              <a:ext uri="{FF2B5EF4-FFF2-40B4-BE49-F238E27FC236}">
                <a16:creationId xmlns:a16="http://schemas.microsoft.com/office/drawing/2014/main" id="{5BBE1602-B495-4F92-A369-EA3E5904C9A7}"/>
              </a:ext>
            </a:extLst>
          </p:cNvPr>
          <p:cNvPicPr>
            <a:picLocks noChangeAspect="1"/>
          </p:cNvPicPr>
          <p:nvPr/>
        </p:nvPicPr>
        <p:blipFill>
          <a:blip r:embed="rId4"/>
          <a:stretch>
            <a:fillRect/>
          </a:stretch>
        </p:blipFill>
        <p:spPr>
          <a:xfrm>
            <a:off x="94247" y="2956070"/>
            <a:ext cx="2847473" cy="3637712"/>
          </a:xfrm>
          <a:prstGeom prst="rect">
            <a:avLst/>
          </a:prstGeom>
        </p:spPr>
      </p:pic>
      <p:sp>
        <p:nvSpPr>
          <p:cNvPr id="11" name="TextBox 10">
            <a:extLst>
              <a:ext uri="{FF2B5EF4-FFF2-40B4-BE49-F238E27FC236}">
                <a16:creationId xmlns:a16="http://schemas.microsoft.com/office/drawing/2014/main" id="{ED7A01C6-681D-48BD-92B0-C43A84543ACB}"/>
              </a:ext>
            </a:extLst>
          </p:cNvPr>
          <p:cNvSpPr txBox="1"/>
          <p:nvPr/>
        </p:nvSpPr>
        <p:spPr>
          <a:xfrm>
            <a:off x="256674" y="2451801"/>
            <a:ext cx="3260558" cy="369332"/>
          </a:xfrm>
          <a:prstGeom prst="rect">
            <a:avLst/>
          </a:prstGeom>
          <a:noFill/>
        </p:spPr>
        <p:txBody>
          <a:bodyPr wrap="square" rtlCol="0">
            <a:spAutoFit/>
          </a:bodyPr>
          <a:lstStyle/>
          <a:p>
            <a:r>
              <a:rPr lang="en-NZ" i="1" dirty="0">
                <a:solidFill>
                  <a:srgbClr val="0070C0"/>
                </a:solidFill>
              </a:rPr>
              <a:t>Formulation</a:t>
            </a:r>
          </a:p>
        </p:txBody>
      </p:sp>
      <p:sp>
        <p:nvSpPr>
          <p:cNvPr id="12" name="Right Brace 11">
            <a:extLst>
              <a:ext uri="{FF2B5EF4-FFF2-40B4-BE49-F238E27FC236}">
                <a16:creationId xmlns:a16="http://schemas.microsoft.com/office/drawing/2014/main" id="{99B1D886-540F-46D4-85FB-A499BA7549DD}"/>
              </a:ext>
            </a:extLst>
          </p:cNvPr>
          <p:cNvSpPr/>
          <p:nvPr/>
        </p:nvSpPr>
        <p:spPr>
          <a:xfrm>
            <a:off x="2992344" y="4397836"/>
            <a:ext cx="147898" cy="2051090"/>
          </a:xfrm>
          <a:prstGeom prst="righ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NZ"/>
          </a:p>
        </p:txBody>
      </p:sp>
      <p:sp>
        <p:nvSpPr>
          <p:cNvPr id="13" name="TextBox 12">
            <a:extLst>
              <a:ext uri="{FF2B5EF4-FFF2-40B4-BE49-F238E27FC236}">
                <a16:creationId xmlns:a16="http://schemas.microsoft.com/office/drawing/2014/main" id="{F580FB49-72A2-4A8C-B63B-552B41711D64}"/>
              </a:ext>
            </a:extLst>
          </p:cNvPr>
          <p:cNvSpPr txBox="1"/>
          <p:nvPr/>
        </p:nvSpPr>
        <p:spPr>
          <a:xfrm>
            <a:off x="3190866" y="5100215"/>
            <a:ext cx="3260558" cy="646331"/>
          </a:xfrm>
          <a:prstGeom prst="rect">
            <a:avLst/>
          </a:prstGeom>
          <a:noFill/>
        </p:spPr>
        <p:txBody>
          <a:bodyPr wrap="square" rtlCol="0">
            <a:spAutoFit/>
          </a:bodyPr>
          <a:lstStyle/>
          <a:p>
            <a:r>
              <a:rPr lang="en-NZ" dirty="0"/>
              <a:t>Convexified</a:t>
            </a:r>
          </a:p>
          <a:p>
            <a:r>
              <a:rPr lang="en-NZ" dirty="0"/>
              <a:t>constraints</a:t>
            </a:r>
          </a:p>
        </p:txBody>
      </p:sp>
      <p:pic>
        <p:nvPicPr>
          <p:cNvPr id="14" name="Picture 13">
            <a:extLst>
              <a:ext uri="{FF2B5EF4-FFF2-40B4-BE49-F238E27FC236}">
                <a16:creationId xmlns:a16="http://schemas.microsoft.com/office/drawing/2014/main" id="{8501A249-03DF-4897-B2D8-12285453B1BB}"/>
              </a:ext>
            </a:extLst>
          </p:cNvPr>
          <p:cNvPicPr>
            <a:picLocks noChangeAspect="1"/>
          </p:cNvPicPr>
          <p:nvPr/>
        </p:nvPicPr>
        <p:blipFill>
          <a:blip r:embed="rId5"/>
          <a:stretch>
            <a:fillRect/>
          </a:stretch>
        </p:blipFill>
        <p:spPr>
          <a:xfrm>
            <a:off x="4505480" y="5358870"/>
            <a:ext cx="4107274" cy="1234912"/>
          </a:xfrm>
          <a:prstGeom prst="rect">
            <a:avLst/>
          </a:prstGeom>
        </p:spPr>
      </p:pic>
      <p:sp>
        <p:nvSpPr>
          <p:cNvPr id="15" name="TextBox 14">
            <a:extLst>
              <a:ext uri="{FF2B5EF4-FFF2-40B4-BE49-F238E27FC236}">
                <a16:creationId xmlns:a16="http://schemas.microsoft.com/office/drawing/2014/main" id="{7435C79D-7B51-472B-81B9-F5BE64B3CA13}"/>
              </a:ext>
            </a:extLst>
          </p:cNvPr>
          <p:cNvSpPr txBox="1"/>
          <p:nvPr/>
        </p:nvSpPr>
        <p:spPr>
          <a:xfrm>
            <a:off x="5045167" y="4944811"/>
            <a:ext cx="3260558" cy="369332"/>
          </a:xfrm>
          <a:prstGeom prst="rect">
            <a:avLst/>
          </a:prstGeom>
          <a:noFill/>
        </p:spPr>
        <p:txBody>
          <a:bodyPr wrap="square" rtlCol="0">
            <a:spAutoFit/>
          </a:bodyPr>
          <a:lstStyle/>
          <a:p>
            <a:r>
              <a:rPr lang="en-NZ" dirty="0"/>
              <a:t>Small approximation error</a:t>
            </a:r>
          </a:p>
        </p:txBody>
      </p:sp>
      <p:cxnSp>
        <p:nvCxnSpPr>
          <p:cNvPr id="17" name="Straight Arrow Connector 16">
            <a:extLst>
              <a:ext uri="{FF2B5EF4-FFF2-40B4-BE49-F238E27FC236}">
                <a16:creationId xmlns:a16="http://schemas.microsoft.com/office/drawing/2014/main" id="{EA3640E6-23EB-40FE-9378-650A096F6C76}"/>
              </a:ext>
            </a:extLst>
          </p:cNvPr>
          <p:cNvCxnSpPr>
            <a:cxnSpLocks/>
          </p:cNvCxnSpPr>
          <p:nvPr/>
        </p:nvCxnSpPr>
        <p:spPr>
          <a:xfrm flipV="1">
            <a:off x="4400259" y="5224593"/>
            <a:ext cx="698915" cy="22448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pic>
        <p:nvPicPr>
          <p:cNvPr id="21" name="Picture 20">
            <a:extLst>
              <a:ext uri="{FF2B5EF4-FFF2-40B4-BE49-F238E27FC236}">
                <a16:creationId xmlns:a16="http://schemas.microsoft.com/office/drawing/2014/main" id="{3940CF4F-6A04-4FA7-B147-7C76C7C71CD3}"/>
              </a:ext>
            </a:extLst>
          </p:cNvPr>
          <p:cNvPicPr>
            <a:picLocks noChangeAspect="1"/>
          </p:cNvPicPr>
          <p:nvPr/>
        </p:nvPicPr>
        <p:blipFill>
          <a:blip r:embed="rId6"/>
          <a:stretch>
            <a:fillRect/>
          </a:stretch>
        </p:blipFill>
        <p:spPr>
          <a:xfrm>
            <a:off x="4259177" y="2776746"/>
            <a:ext cx="3957624" cy="1968664"/>
          </a:xfrm>
          <a:prstGeom prst="rect">
            <a:avLst/>
          </a:prstGeom>
        </p:spPr>
      </p:pic>
      <p:sp>
        <p:nvSpPr>
          <p:cNvPr id="22" name="TextBox 21">
            <a:extLst>
              <a:ext uri="{FF2B5EF4-FFF2-40B4-BE49-F238E27FC236}">
                <a16:creationId xmlns:a16="http://schemas.microsoft.com/office/drawing/2014/main" id="{7D400A24-AAE2-48D0-8279-E968BB97F078}"/>
              </a:ext>
            </a:extLst>
          </p:cNvPr>
          <p:cNvSpPr txBox="1"/>
          <p:nvPr/>
        </p:nvSpPr>
        <p:spPr>
          <a:xfrm>
            <a:off x="4210346" y="2451801"/>
            <a:ext cx="3260558" cy="369332"/>
          </a:xfrm>
          <a:prstGeom prst="rect">
            <a:avLst/>
          </a:prstGeom>
          <a:noFill/>
        </p:spPr>
        <p:txBody>
          <a:bodyPr wrap="square" rtlCol="0">
            <a:spAutoFit/>
          </a:bodyPr>
          <a:lstStyle/>
          <a:p>
            <a:r>
              <a:rPr lang="en-NZ" i="1" dirty="0">
                <a:solidFill>
                  <a:srgbClr val="0070C0"/>
                </a:solidFill>
              </a:rPr>
              <a:t>Case study</a:t>
            </a:r>
          </a:p>
        </p:txBody>
      </p:sp>
    </p:spTree>
    <p:extLst>
      <p:ext uri="{BB962C8B-B14F-4D97-AF65-F5344CB8AC3E}">
        <p14:creationId xmlns:p14="http://schemas.microsoft.com/office/powerpoint/2010/main" val="3392074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751</Words>
  <Application>Microsoft Office PowerPoint</Application>
  <PresentationFormat>Widescreen</PresentationFormat>
  <Paragraphs>110</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CMSY10</vt:lpstr>
      <vt:lpstr>Office Theme</vt:lpstr>
      <vt:lpstr>Optimisation in my research</vt:lpstr>
      <vt:lpstr>Overview</vt:lpstr>
      <vt:lpstr>Distributed optimisation / control </vt:lpstr>
      <vt:lpstr>Distributed optimization / control</vt:lpstr>
      <vt:lpstr>Application to power systems</vt:lpstr>
      <vt:lpstr>Intro to distributed optimisation / control</vt:lpstr>
      <vt:lpstr>Intro to distributed optimisation / control</vt:lpstr>
      <vt:lpstr>PowerPoint Presentation</vt:lpstr>
      <vt:lpstr>PowerPoint Presentation</vt:lpstr>
      <vt:lpstr>Linear Matrix Inequalities</vt:lpstr>
      <vt:lpstr>PowerPoint Presentation</vt:lpstr>
      <vt:lpstr>Unbalanced optimal power-flow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Optimisation in research</dc:title>
  <dc:creator>Jeremy Watson</dc:creator>
  <cp:lastModifiedBy>Jeremy Watson</cp:lastModifiedBy>
  <cp:revision>32</cp:revision>
  <dcterms:created xsi:type="dcterms:W3CDTF">2024-05-16T03:25:08Z</dcterms:created>
  <dcterms:modified xsi:type="dcterms:W3CDTF">2024-05-22T11:46:42Z</dcterms:modified>
</cp:coreProperties>
</file>