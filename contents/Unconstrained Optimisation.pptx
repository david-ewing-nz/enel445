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0" r:id="rId4"/>
    <p:sldId id="257" r:id="rId5"/>
    <p:sldId id="258" r:id="rId6"/>
    <p:sldId id="259" r:id="rId7"/>
    <p:sldId id="260" r:id="rId8"/>
    <p:sldId id="262" r:id="rId9"/>
    <p:sldId id="261" r:id="rId10"/>
    <p:sldId id="265" r:id="rId11"/>
    <p:sldId id="263" r:id="rId12"/>
    <p:sldId id="272" r:id="rId13"/>
    <p:sldId id="264" r:id="rId14"/>
    <p:sldId id="273" r:id="rId15"/>
    <p:sldId id="267" r:id="rId16"/>
    <p:sldId id="269" r:id="rId17"/>
    <p:sldId id="274" r:id="rId18"/>
    <p:sldId id="275" r:id="rId19"/>
    <p:sldId id="276" r:id="rId20"/>
    <p:sldId id="291" r:id="rId21"/>
    <p:sldId id="295" r:id="rId22"/>
    <p:sldId id="277" r:id="rId23"/>
    <p:sldId id="292" r:id="rId24"/>
    <p:sldId id="294" r:id="rId25"/>
    <p:sldId id="293" r:id="rId26"/>
    <p:sldId id="296" r:id="rId27"/>
    <p:sldId id="278" r:id="rId28"/>
    <p:sldId id="280" r:id="rId29"/>
    <p:sldId id="279" r:id="rId30"/>
    <p:sldId id="301" r:id="rId31"/>
    <p:sldId id="281" r:id="rId32"/>
    <p:sldId id="282" r:id="rId33"/>
    <p:sldId id="297" r:id="rId34"/>
    <p:sldId id="283" r:id="rId35"/>
    <p:sldId id="298" r:id="rId36"/>
    <p:sldId id="299" r:id="rId37"/>
    <p:sldId id="300" r:id="rId38"/>
    <p:sldId id="284" r:id="rId39"/>
    <p:sldId id="285" r:id="rId40"/>
    <p:sldId id="288" r:id="rId41"/>
    <p:sldId id="290" r:id="rId42"/>
  </p:sldIdLst>
  <p:sldSz cx="12192000" cy="6858000"/>
  <p:notesSz cx="6797675" cy="992632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820537" y="6687820"/>
            <a:ext cx="5683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In-Confidence</a:t>
            </a:r>
            <a:endParaRPr lang="en-US" sz="700">
              <a:solidFill>
                <a:srgbClr val="000000">
                  <a:alpha val="50000"/>
                </a:srgbClr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5820537" y="6687820"/>
            <a:ext cx="5683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In-Confidence</a:t>
            </a:r>
            <a:endParaRPr lang="en-US" sz="700">
              <a:solidFill>
                <a:srgbClr val="000000">
                  <a:alpha val="50000"/>
                </a:srgbClr>
              </a:solidFill>
              <a:latin typeface="Aptos" panose="020B00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Unconstrained Optimisation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837055"/>
          </a:xfrm>
        </p:spPr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Lectures 1 - 6</a:t>
            </a:r>
            <a:endParaRPr lang="en-US" dirty="0">
              <a:sym typeface="+mn-ea"/>
            </a:endParaRPr>
          </a:p>
          <a:p>
            <a:r>
              <a:rPr lang="en-US"/>
              <a:t>Le Yang and Jeremy Watson</a:t>
            </a:r>
            <a:endParaRPr lang="en-US"/>
          </a:p>
          <a:p>
            <a:r>
              <a:rPr lang="en-US"/>
              <a:t>ENEL445-26S1</a:t>
            </a:r>
            <a:endParaRPr lang="en-US"/>
          </a:p>
          <a:p>
            <a:r>
              <a:rPr lang="en-US"/>
              <a:t>Department of ECE, University of Canterbury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notes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‘Course Reader’ of the ENEL445 course LEARN page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2319655"/>
            <a:ext cx="7348855" cy="418147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598035" y="4819650"/>
            <a:ext cx="2811780" cy="932180"/>
          </a:xfrm>
          <a:prstGeom prst="ellipse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Problem formulation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Unconstrained </a:t>
            </a:r>
            <a:r>
              <a:rPr lang="en-US" dirty="0" err="1"/>
              <a:t>optimisation</a:t>
            </a:r>
            <a:r>
              <a:rPr lang="en-US" dirty="0"/>
              <a:t> problem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assumptions: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/>
              <a:t>Continuous and differentiable </a:t>
            </a:r>
            <a:r>
              <a:rPr lang="en-US" i="1" dirty="0"/>
              <a:t>scalar</a:t>
            </a:r>
            <a:r>
              <a:rPr lang="en-US" dirty="0"/>
              <a:t> objective function (C</a:t>
            </a:r>
            <a:r>
              <a:rPr lang="en-US" baseline="30000" dirty="0">
                <a:solidFill>
                  <a:schemeClr val="tx1"/>
                </a:solidFill>
                <a:uFillTx/>
              </a:rPr>
              <a:t>2 </a:t>
            </a:r>
            <a:r>
              <a:rPr lang="en-US" dirty="0"/>
              <a:t>smooth)</a:t>
            </a:r>
            <a:endParaRPr lang="en-US" dirty="0"/>
          </a:p>
          <a:p>
            <a:pPr marL="971550" lvl="1" indent="-514350">
              <a:buAutoNum type="arabicPeriod"/>
            </a:pPr>
            <a:r>
              <a:rPr lang="en-US" dirty="0"/>
              <a:t>Design variables subject to range constraints</a:t>
            </a:r>
            <a:endParaRPr lang="en-US" dirty="0"/>
          </a:p>
          <a:p>
            <a:pPr lvl="2"/>
            <a:r>
              <a:rPr lang="en-US" dirty="0"/>
              <a:t>These constraints can be eliminated via design variable transformation (see next slide)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Iterative approach </a:t>
            </a:r>
            <a:r>
              <a:rPr lang="en-US"/>
              <a:t>is used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 of Design Variables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Softplus function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r>
              <a:rPr lang="en-US"/>
              <a:t>Sigmoid function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Hyperbolic tangent function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3795"/>
          </a:xfrm>
        </p:spPr>
        <p:txBody>
          <a:bodyPr>
            <a:normAutofit fontScale="90000" lnSpcReduction="10000"/>
          </a:bodyPr>
          <a:lstStyle/>
          <a:p>
            <a:r>
              <a:rPr lang="en-US" dirty="0"/>
              <a:t>Convexity of the objective function not always guaranteed</a:t>
            </a:r>
            <a:endParaRPr lang="en-US" dirty="0"/>
          </a:p>
          <a:p>
            <a:endParaRPr lang="en-US" dirty="0"/>
          </a:p>
          <a:p>
            <a:r>
              <a:rPr lang="en-US" dirty="0"/>
              <a:t>Multimodality of the objective function</a:t>
            </a:r>
            <a:endParaRPr lang="en-US" dirty="0"/>
          </a:p>
          <a:p>
            <a:pPr lvl="1"/>
            <a:r>
              <a:rPr lang="en-US" dirty="0"/>
              <a:t>Hard to know whether the objective function is unimodal or multimodal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Finding the global minimum is always desired but difficult</a:t>
            </a:r>
            <a:endParaRPr lang="en-US" dirty="0"/>
          </a:p>
          <a:p>
            <a:pPr lvl="2"/>
            <a:r>
              <a:rPr lang="en-US" sz="2000" dirty="0"/>
              <a:t>Local convergence</a:t>
            </a:r>
            <a:endParaRPr lang="en-US" sz="2000" dirty="0"/>
          </a:p>
          <a:p>
            <a:pPr lvl="2"/>
            <a:endParaRPr lang="en-US" sz="2000" dirty="0"/>
          </a:p>
          <a:p>
            <a:pPr lvl="0"/>
            <a:r>
              <a:rPr lang="en-US" sz="2800" dirty="0"/>
              <a:t>An efficient approach: multi-start initialization</a:t>
            </a:r>
            <a:endParaRPr lang="en-US" sz="2800" dirty="0"/>
          </a:p>
          <a:p>
            <a:pPr lvl="1"/>
            <a:r>
              <a:rPr lang="en-US" sz="2400" dirty="0"/>
              <a:t>If we reach the same minimum from distant starting points, it is likely that is the global minimum (still no guarantee)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How to cover the space of the design variables efficiently with a limited number of initial points? (more in next week)</a:t>
            </a:r>
            <a:endParaRPr lang="en-US" sz="2000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Gradient-free v.s. Gradient based (1)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Gradient-free methods</a:t>
            </a:r>
            <a:endParaRPr lang="en-US"/>
          </a:p>
          <a:p>
            <a:pPr lvl="1"/>
            <a:r>
              <a:rPr lang="en-US"/>
              <a:t>As long as the objective function (and constraints) is numerically computable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Easy to set up and widely applicable (no requirement on the continuity or smoothness of any function)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Heuristic, nature-inspired but computationally intensive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Example: genetic algorithms, particle swarm optimization (PSO) ...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Gradient-free v.s. Gradient based (2)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7895"/>
          </a:xfrm>
        </p:spPr>
        <p:txBody>
          <a:bodyPr>
            <a:normAutofit lnSpcReduction="10000"/>
          </a:bodyPr>
          <a:lstStyle/>
          <a:p>
            <a:r>
              <a:rPr lang="en-US"/>
              <a:t>Gradient-based methods</a:t>
            </a:r>
            <a:endParaRPr lang="en-US"/>
          </a:p>
          <a:p>
            <a:pPr lvl="1"/>
            <a:r>
              <a:rPr lang="en-US" sz="2400"/>
              <a:t>Gradient-guided search of the design variable space</a:t>
            </a:r>
            <a:endParaRPr lang="en-US" sz="2400"/>
          </a:p>
          <a:p>
            <a:pPr lvl="1"/>
            <a:endParaRPr lang="en-US" sz="2400"/>
          </a:p>
          <a:p>
            <a:pPr lvl="1"/>
            <a:r>
              <a:rPr lang="en-US" sz="2400"/>
              <a:t>Gradient provides information on the local rate of change in the objective function value but still enables global searching ability</a:t>
            </a:r>
            <a:endParaRPr lang="en-US" sz="2400"/>
          </a:p>
          <a:p>
            <a:pPr lvl="1"/>
            <a:endParaRPr lang="en-US" sz="2400"/>
          </a:p>
          <a:p>
            <a:pPr lvl="1"/>
            <a:r>
              <a:rPr lang="en-US" sz="2400"/>
              <a:t>Gradient provides information for stopping the iteration </a:t>
            </a:r>
            <a:endParaRPr lang="en-US" sz="2400"/>
          </a:p>
          <a:p>
            <a:pPr lvl="2"/>
            <a:r>
              <a:rPr lang="en-US" sz="2400"/>
              <a:t>Optimality conditions</a:t>
            </a:r>
            <a:endParaRPr lang="en-US" sz="2400"/>
          </a:p>
          <a:p>
            <a:pPr lvl="2"/>
            <a:endParaRPr lang="en-US" sz="2400"/>
          </a:p>
          <a:p>
            <a:pPr lvl="1"/>
            <a:r>
              <a:rPr lang="en-US" sz="2400"/>
              <a:t>Gradient can be computed in closed-form or numerically</a:t>
            </a:r>
            <a:endParaRPr lang="en-US" sz="2400"/>
          </a:p>
          <a:p>
            <a:pPr lvl="1"/>
            <a:endParaRPr lang="en-US" sz="2400"/>
          </a:p>
          <a:p>
            <a:pPr lvl="1"/>
            <a:r>
              <a:rPr lang="en-US" sz="2400"/>
              <a:t>Gradient-based techniques’ complexity scales nicely with the problem dimensionality</a:t>
            </a:r>
            <a:endParaRPr 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Taylor-Series Expansion Re-visited (1)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Univariate case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Taylor-Series Expansion Re-visited (2)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Multivariate case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Definition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Geometrical intepretation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Examples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Hessian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Definition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Geometrical intepretation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Gradient-based Iterative Solution to Unconstrained Optimization Problems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Generic form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Key design questions</a:t>
            </a:r>
            <a:endParaRPr lang="en-US"/>
          </a:p>
          <a:p>
            <a:pPr marL="971550" lvl="1" indent="-514350">
              <a:buAutoNum type="arabicPeriod"/>
            </a:pPr>
            <a:r>
              <a:rPr lang="en-US" sz="2400"/>
              <a:t>How to select the initial solution x</a:t>
            </a:r>
            <a:r>
              <a:rPr lang="en-US" sz="2400" baseline="-25000">
                <a:solidFill>
                  <a:schemeClr val="tx1"/>
                </a:solidFill>
                <a:uFillTx/>
              </a:rPr>
              <a:t>0</a:t>
            </a:r>
            <a:r>
              <a:rPr lang="en-US" sz="2400">
                <a:solidFill>
                  <a:schemeClr val="tx1"/>
                </a:solidFill>
                <a:uFillTx/>
              </a:rPr>
              <a:t> , multi-start strategy</a:t>
            </a:r>
            <a:endParaRPr lang="en-US" sz="2400">
              <a:solidFill>
                <a:schemeClr val="tx1"/>
              </a:solidFill>
              <a:uFillTx/>
            </a:endParaRPr>
          </a:p>
          <a:p>
            <a:pPr marL="971550" lvl="1" indent="-514350">
              <a:buAutoNum type="arabicPeriod"/>
            </a:pPr>
            <a:r>
              <a:rPr lang="en-US" sz="2400">
                <a:solidFill>
                  <a:schemeClr val="tx1"/>
                </a:solidFill>
                <a:uFillTx/>
              </a:rPr>
              <a:t>When to terminate the iteration, optimality condition</a:t>
            </a:r>
            <a:endParaRPr lang="en-US" sz="2400">
              <a:solidFill>
                <a:schemeClr val="tx1"/>
              </a:solidFill>
              <a:uFillTx/>
            </a:endParaRPr>
          </a:p>
          <a:p>
            <a:pPr marL="971550" lvl="1" indent="-514350">
              <a:buAutoNum type="arabicPeriod"/>
            </a:pPr>
            <a:r>
              <a:rPr lang="en-US"/>
              <a:t>How to find the search direction, closed-form or numerical evaluation</a:t>
            </a:r>
            <a:endParaRPr lang="en-US"/>
          </a:p>
          <a:p>
            <a:pPr marL="971550" lvl="1" indent="-514350">
              <a:buAutoNum type="arabicPeriod"/>
            </a:pPr>
            <a:r>
              <a:rPr lang="en-US"/>
              <a:t>How to determine the step size a</a:t>
            </a:r>
            <a:r>
              <a:rPr lang="en-US" baseline="-25000">
                <a:solidFill>
                  <a:schemeClr val="tx1"/>
                </a:solidFill>
                <a:uFillTx/>
              </a:rPr>
              <a:t>k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Optimality Conditions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Necessary conditions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Stopping Criteria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Multi-start Initialization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Educated guesses based on the understanding of the optimization problem</a:t>
            </a:r>
            <a:endParaRPr lang="en-US"/>
          </a:p>
          <a:p>
            <a:endParaRPr lang="en-US"/>
          </a:p>
          <a:p>
            <a:r>
              <a:rPr lang="en-US"/>
              <a:t>Naive full factorial sampling</a:t>
            </a:r>
            <a:endParaRPr lang="en-US"/>
          </a:p>
          <a:p>
            <a:pPr lvl="1"/>
            <a:r>
              <a:rPr lang="en-US" sz="2400"/>
              <a:t>Uniform grid to discretize each design variable</a:t>
            </a:r>
            <a:endParaRPr lang="en-US" sz="2400"/>
          </a:p>
          <a:p>
            <a:pPr lvl="1"/>
            <a:r>
              <a:rPr lang="en-US" sz="2400"/>
              <a:t>Curse of dimensionality: number of grid points grows exponentially with the problem dimensionality</a:t>
            </a:r>
            <a:endParaRPr lang="en-US" sz="2400"/>
          </a:p>
          <a:p>
            <a:pPr lvl="1"/>
            <a:endParaRPr lang="en-US" sz="2400"/>
          </a:p>
          <a:p>
            <a:pPr lvl="0"/>
            <a:r>
              <a:rPr lang="en-US"/>
              <a:t>Random sampling</a:t>
            </a:r>
            <a:endParaRPr lang="en-US"/>
          </a:p>
          <a:p>
            <a:pPr lvl="1"/>
            <a:r>
              <a:rPr lang="en-US" sz="2400"/>
              <a:t>Inefficient if some samples are clusters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Latin Hypercube Sampling (LHS)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24400"/>
              </a:xfrm>
            </p:spPr>
            <p:txBody>
              <a:bodyPr/>
              <a:lstStyle/>
              <a:p>
                <a:r>
                  <a:rPr lang="en-US" altLang="zh-CN"/>
                  <a:t>Consider a 2D case (2 design variables, x</a:t>
                </a:r>
                <a:r>
                  <a:rPr lang="en-US" altLang="zh-CN" baseline="-25000">
                    <a:solidFill>
                      <a:schemeClr val="tx1"/>
                    </a:solidFill>
                    <a:uFillTx/>
                  </a:rPr>
                  <a:t>1</a:t>
                </a:r>
                <a:r>
                  <a:rPr lang="en-US" altLang="zh-CN"/>
                  <a:t> and x</a:t>
                </a:r>
                <a:r>
                  <a:rPr lang="en-US" altLang="zh-CN" baseline="-25000">
                    <a:solidFill>
                      <a:schemeClr val="tx1"/>
                    </a:solidFill>
                    <a:uFillTx/>
                  </a:rPr>
                  <a:t>2</a:t>
                </a:r>
                <a:r>
                  <a:rPr lang="en-US" altLang="zh-CN"/>
                  <a:t>) and 8 initial solution guesses</a:t>
                </a:r>
                <a:endParaRPr lang="en-US" altLang="zh-CN"/>
              </a:p>
              <a:p>
                <a:pPr lvl="1"/>
                <a:r>
                  <a:rPr lang="en-US" altLang="zh-CN"/>
                  <a:t>Let us create a 8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</m:oMath>
                </a14:m>
                <a:r>
                  <a:rPr lang="en-US" altLang="zh-CN"/>
                  <a:t>8 grid as in the full factorial method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en-US" altLang="zh-CN"/>
                  <a:t>LHS requires that each row and each column of the grid has only ONE sample</a:t>
                </a:r>
                <a:endParaRPr lang="en-US" altLang="zh-CN"/>
              </a:p>
              <a:p>
                <a:pPr lvl="1"/>
                <a:r>
                  <a:rPr lang="en-US" altLang="zh-CN" sz="2400"/>
                  <a:t>Projecting the samples along each dimension gives a uniform histogram (i.e., equally good coverge in each dimension)</a:t>
                </a:r>
                <a:endParaRPr lang="en-US" altLang="zh-CN" sz="2400"/>
              </a:p>
              <a:p>
                <a:pPr lvl="1"/>
                <a:endParaRPr lang="en-US" altLang="zh-CN" sz="2400"/>
              </a:p>
              <a:p>
                <a:pPr lvl="1"/>
                <a:endParaRPr lang="en-US" altLang="zh-CN"/>
              </a:p>
              <a:p>
                <a:r>
                  <a:rPr lang="en-US" altLang="zh-CN"/>
                  <a:t>LHS is not unique</a:t>
                </a:r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24400"/>
              </a:xfrm>
              <a:blipFill rotWithShape="1">
                <a:blip r:embed="rId1"/>
                <a:stretch>
                  <a:fillRect b="-41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Latin Hypercube Sampling (LHS) Continued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403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/>
                  <a:t>A simple LHS algorithm</a:t>
                </a:r>
                <a:endParaRPr lang="en-US" altLang="zh-CN"/>
              </a:p>
              <a:p>
                <a:pPr lvl="1"/>
                <a:r>
                  <a:rPr lang="en-US" altLang="zh-CN"/>
                  <a:t>Assume n</a:t>
                </a:r>
                <a:r>
                  <a:rPr lang="en-US" altLang="zh-CN" baseline="-25000">
                    <a:solidFill>
                      <a:schemeClr val="tx1"/>
                    </a:solidFill>
                    <a:uFillTx/>
                  </a:rPr>
                  <a:t>d </a:t>
                </a:r>
                <a:r>
                  <a:rPr lang="en-US" altLang="zh-CN">
                    <a:solidFill>
                      <a:schemeClr val="tx1"/>
                    </a:solidFill>
                    <a:uFillTx/>
                  </a:rPr>
                  <a:t>design variables (each in [0,1]) and n</a:t>
                </a:r>
                <a:r>
                  <a:rPr lang="en-US" altLang="zh-CN" baseline="-25000">
                    <a:solidFill>
                      <a:schemeClr val="tx1"/>
                    </a:solidFill>
                    <a:uFillTx/>
                  </a:rPr>
                  <a:t>s</a:t>
                </a:r>
                <a:r>
                  <a:rPr lang="en-US" altLang="zh-CN">
                    <a:solidFill>
                      <a:schemeClr val="tx1"/>
                    </a:solidFill>
                    <a:uFillTx/>
                  </a:rPr>
                  <a:t> initial solutions</a:t>
                </a:r>
                <a:endParaRPr lang="en-US" altLang="zh-CN">
                  <a:solidFill>
                    <a:schemeClr val="tx1"/>
                  </a:solidFill>
                  <a:uFillTx/>
                </a:endParaRPr>
              </a:p>
              <a:p>
                <a:pPr marL="914400" lvl="1" indent="-457200">
                  <a:buAutoNum type="arabicPeriod"/>
                </a:pPr>
                <a:r>
                  <a:rPr lang="en-US" altLang="zh-CN"/>
                  <a:t>Discretise the i-th design variables with </a:t>
                </a:r>
                <a:r>
                  <a:rPr lang="en-US" altLang="zh-CN">
                    <a:uFillTx/>
                    <a:sym typeface="+mn-ea"/>
                  </a:rPr>
                  <a:t>n</a:t>
                </a:r>
                <a:r>
                  <a:rPr lang="en-US" altLang="zh-CN" baseline="-25000">
                    <a:uFillTx/>
                    <a:sym typeface="+mn-ea"/>
                  </a:rPr>
                  <a:t>s</a:t>
                </a:r>
                <a:r>
                  <a:rPr lang="en-US" altLang="zh-CN"/>
                  <a:t> grid points (i.e., partition each dimension into </a:t>
                </a:r>
                <a:r>
                  <a:rPr lang="en-US" altLang="zh-CN">
                    <a:uFillTx/>
                    <a:sym typeface="+mn-ea"/>
                  </a:rPr>
                  <a:t>n</a:t>
                </a:r>
                <a:r>
                  <a:rPr lang="en-US" altLang="zh-CN" baseline="-25000">
                    <a:uFillTx/>
                    <a:sym typeface="+mn-ea"/>
                  </a:rPr>
                  <a:t>s</a:t>
                </a:r>
                <a:r>
                  <a:rPr lang="en-US" altLang="zh-CN"/>
                  <a:t> intervals and take one random sample from it)</a:t>
                </a: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r>
                  <a:rPr lang="en-US" altLang="zh-CN"/>
                  <a:t>Build a </a:t>
                </a:r>
                <a:r>
                  <a:rPr lang="en-US" altLang="zh-CN">
                    <a:sym typeface="+mn-ea"/>
                  </a:rPr>
                  <a:t>n</a:t>
                </a:r>
                <a:r>
                  <a:rPr lang="en-US" altLang="zh-CN" baseline="-25000">
                    <a:uFillTx/>
                    <a:sym typeface="+mn-ea"/>
                  </a:rPr>
                  <a:t>d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uFillTx/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×</m:t>
                    </m:r>
                  </m:oMath>
                </a14:m>
                <a:r>
                  <a:rPr lang="en-US" altLang="zh-CN">
                    <a:solidFill>
                      <a:schemeClr val="tx1"/>
                    </a:solidFill>
                    <a:uFillTx/>
                    <a:sym typeface="+mn-ea"/>
                  </a:rPr>
                  <a:t>n</a:t>
                </a:r>
                <a:r>
                  <a:rPr lang="en-US" altLang="zh-CN" baseline="-25000">
                    <a:solidFill>
                      <a:schemeClr val="tx1"/>
                    </a:solidFill>
                    <a:uFillTx/>
                    <a:sym typeface="+mn-ea"/>
                  </a:rPr>
                  <a:t>s</a:t>
                </a:r>
                <a:r>
                  <a:rPr lang="en-US" altLang="zh-CN">
                    <a:solidFill>
                      <a:schemeClr val="tx1"/>
                    </a:solidFill>
                    <a:uFillTx/>
                    <a:sym typeface="+mn-ea"/>
                  </a:rPr>
                  <a:t> matrix </a:t>
                </a:r>
                <a:r>
                  <a:rPr lang="en-US" altLang="zh-CN" b="1">
                    <a:solidFill>
                      <a:schemeClr val="tx1"/>
                    </a:solidFill>
                    <a:uFillTx/>
                    <a:sym typeface="+mn-ea"/>
                  </a:rPr>
                  <a:t>V</a:t>
                </a:r>
                <a:endParaRPr lang="en-US" altLang="zh-CN">
                  <a:solidFill>
                    <a:schemeClr val="tx1"/>
                  </a:solidFill>
                  <a:uFillTx/>
                  <a:sym typeface="+mn-ea"/>
                </a:endParaRPr>
              </a:p>
              <a:p>
                <a:pPr marL="914400" lvl="1" indent="-457200">
                  <a:buAutoNum type="arabicPeriod"/>
                </a:pPr>
                <a:endParaRPr lang="en-US" altLang="zh-CN">
                  <a:solidFill>
                    <a:schemeClr val="tx1"/>
                  </a:solidFill>
                  <a:uFillTx/>
                  <a:sym typeface="+mn-ea"/>
                </a:endParaRPr>
              </a:p>
              <a:p>
                <a:pPr marL="914400" lvl="1" indent="-457200">
                  <a:buAutoNum type="arabicPeriod"/>
                </a:pPr>
                <a:endParaRPr lang="en-US" altLang="zh-CN">
                  <a:solidFill>
                    <a:schemeClr val="tx1"/>
                  </a:solidFill>
                  <a:uFillTx/>
                  <a:sym typeface="+mn-ea"/>
                </a:endParaRPr>
              </a:p>
              <a:p>
                <a:pPr marL="914400" lvl="1" indent="-457200">
                  <a:buAutoNum type="arabicPeriod"/>
                </a:pPr>
                <a:r>
                  <a:rPr lang="en-US" altLang="zh-CN">
                    <a:solidFill>
                      <a:schemeClr val="tx1"/>
                    </a:solidFill>
                    <a:uFillTx/>
                    <a:sym typeface="+mn-ea"/>
                  </a:rPr>
                  <a:t>Perturb each row of V to obtain </a:t>
                </a:r>
                <a:r>
                  <a:rPr lang="en-US" altLang="zh-CN">
                    <a:uFillTx/>
                    <a:sym typeface="+mn-ea"/>
                  </a:rPr>
                  <a:t>n</a:t>
                </a:r>
                <a:r>
                  <a:rPr lang="en-US" altLang="zh-CN" baseline="-25000">
                    <a:uFillTx/>
                    <a:sym typeface="+mn-ea"/>
                  </a:rPr>
                  <a:t>s</a:t>
                </a:r>
                <a:r>
                  <a:rPr lang="en-US" altLang="zh-CN">
                    <a:uFillTx/>
                    <a:sym typeface="+mn-ea"/>
                  </a:rPr>
                  <a:t> </a:t>
                </a:r>
                <a:r>
                  <a:rPr lang="en-US" altLang="zh-CN">
                    <a:solidFill>
                      <a:schemeClr val="tx1"/>
                    </a:solidFill>
                    <a:uFillTx/>
                    <a:sym typeface="+mn-ea"/>
                  </a:rPr>
                  <a:t>initial solution guesses </a:t>
                </a:r>
                <a:endParaRPr lang="en-US" altLang="zh-CN">
                  <a:solidFill>
                    <a:schemeClr val="tx1"/>
                  </a:solidFill>
                  <a:uFillTx/>
                  <a:sym typeface="+mn-ea"/>
                </a:endParaRPr>
              </a:p>
              <a:p>
                <a:pPr marL="914400" lvl="1" indent="-457200">
                  <a:buAutoNum type="arabicPeriod"/>
                </a:pPr>
                <a:endParaRPr lang="en-US" altLang="zh-CN">
                  <a:solidFill>
                    <a:schemeClr val="tx1"/>
                  </a:solidFill>
                  <a:uFillTx/>
                  <a:sym typeface="+mn-ea"/>
                </a:endParaRPr>
              </a:p>
              <a:p>
                <a:pPr marL="914400" lvl="1" indent="-457200">
                  <a:buAutoNum type="arabicPeriod"/>
                </a:pPr>
                <a:endParaRPr lang="en-US" altLang="zh-CN">
                  <a:solidFill>
                    <a:schemeClr val="tx1"/>
                  </a:solidFill>
                  <a:uFillTx/>
                  <a:sym typeface="+mn-ea"/>
                </a:endParaRPr>
              </a:p>
              <a:p>
                <a:pPr marL="914400" lvl="1" indent="-457200">
                  <a:buAutoNum type="arabicPeriod"/>
                </a:pPr>
                <a:r>
                  <a:rPr lang="en-US" altLang="zh-CN">
                    <a:solidFill>
                      <a:schemeClr val="tx1"/>
                    </a:solidFill>
                    <a:uFillTx/>
                    <a:sym typeface="+mn-ea"/>
                  </a:rPr>
                  <a:t>Repeat Step-3 multiple times and output </a:t>
                </a:r>
                <a:r>
                  <a:rPr lang="en-US" altLang="zh-CN" b="1">
                    <a:solidFill>
                      <a:schemeClr val="tx1"/>
                    </a:solidFill>
                    <a:uFillTx/>
                    <a:sym typeface="+mn-ea"/>
                  </a:rPr>
                  <a:t>V</a:t>
                </a:r>
                <a:r>
                  <a:rPr lang="en-US" altLang="zh-CN">
                    <a:solidFill>
                      <a:schemeClr val="tx1"/>
                    </a:solidFill>
                    <a:uFillTx/>
                    <a:sym typeface="+mn-ea"/>
                  </a:rPr>
                  <a:t> with e.g., the largest minimum distance between initial solutions</a:t>
                </a: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pPr marL="914400" lvl="1" indent="-457200">
                  <a:buAutoNum type="arabicPeriod"/>
                </a:pPr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40300"/>
              </a:xfrm>
              <a:blipFill rotWithShape="1">
                <a:blip r:embed="rId1"/>
                <a:stretch>
                  <a:fillRect t="-578" b="-77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Halton and Hammersley Sequences (1)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Family of low-discrepancy sequences</a:t>
            </a:r>
            <a:endParaRPr lang="en-US" altLang="zh-CN"/>
          </a:p>
          <a:p>
            <a:pPr lvl="1"/>
            <a:r>
              <a:rPr lang="en-US" altLang="zh-CN" sz="2400"/>
              <a:t>Discrepency: variation of the sample density over the design variable space</a:t>
            </a:r>
            <a:endParaRPr lang="en-US" altLang="zh-CN" sz="2400"/>
          </a:p>
          <a:p>
            <a:pPr lvl="2"/>
            <a:r>
              <a:rPr lang="en-US" altLang="zh-CN" sz="2400"/>
              <a:t>Even sample density</a:t>
            </a:r>
            <a:endParaRPr lang="en-US" altLang="zh-CN" sz="2400"/>
          </a:p>
          <a:p>
            <a:pPr marL="457200" lvl="1" indent="0">
              <a:buNone/>
            </a:pPr>
            <a:r>
              <a:rPr lang="en-US" altLang="zh-CN" sz="2400"/>
              <a:t> </a:t>
            </a:r>
            <a:endParaRPr lang="en-US" altLang="zh-CN" sz="2400"/>
          </a:p>
          <a:p>
            <a:pPr lvl="1"/>
            <a:r>
              <a:rPr lang="en-US" altLang="zh-CN" sz="2400"/>
              <a:t>Deterministic (quasi-random) and spatially spread</a:t>
            </a:r>
            <a:endParaRPr lang="en-US" altLang="zh-CN" sz="2400"/>
          </a:p>
          <a:p>
            <a:pPr lvl="1"/>
            <a:endParaRPr lang="en-US" altLang="zh-CN" sz="2400"/>
          </a:p>
          <a:p>
            <a:pPr lvl="1"/>
            <a:r>
              <a:rPr lang="en-US" altLang="zh-CN" sz="2400"/>
              <a:t>Attractive property for multi-start initialization: sequence length can be increased on-the-fly</a:t>
            </a:r>
            <a:endParaRPr lang="en-US" altLang="zh-CN" sz="2400"/>
          </a:p>
          <a:p>
            <a:pPr lvl="2"/>
            <a:r>
              <a:rPr lang="en-US" altLang="zh-CN" sz="2400"/>
              <a:t>Newly added samples maintain low discrepancy</a:t>
            </a:r>
            <a:endParaRPr lang="en-US" altLang="zh-CN" sz="2400"/>
          </a:p>
          <a:p>
            <a:pPr lvl="2"/>
            <a:endParaRPr lang="en-US" altLang="zh-CN" sz="2400"/>
          </a:p>
          <a:p>
            <a:pPr lvl="2"/>
            <a:r>
              <a:rPr lang="en-US" altLang="zh-CN" sz="2400"/>
              <a:t>Good for numiercal integration, Monte Carlo simulation, multi-start initialization</a:t>
            </a:r>
            <a:endParaRPr lang="en-US" altLang="zh-CN" sz="2400"/>
          </a:p>
          <a:p>
            <a:pPr marL="914400" lvl="2" indent="0">
              <a:buNone/>
            </a:pPr>
            <a:endParaRPr lang="en-US" altLang="zh-CN" sz="2000"/>
          </a:p>
          <a:p>
            <a:pPr lvl="2"/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Halton and Hammersley Sequences (2)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/>
                  <a:t>Both are based on the 1D </a:t>
                </a:r>
                <a:r>
                  <a:rPr lang="en-US" altLang="zh-CN" i="1"/>
                  <a:t>van der Corput</a:t>
                </a:r>
                <a:r>
                  <a:rPr lang="en-US" altLang="zh-CN"/>
                  <a:t> sequence</a:t>
                </a:r>
                <a:endParaRPr lang="en-US" altLang="zh-CN"/>
              </a:p>
              <a:p>
                <a:endParaRPr lang="en-US" altLang="zh-CN"/>
              </a:p>
              <a:p>
                <a:r>
                  <a:rPr lang="en-US" altLang="zh-CN"/>
                  <a:t>Let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zh-CN"/>
                  <a:t> be an integer 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</m:oMath>
                </a14:m>
                <a:r>
                  <a:rPr lang="en-US" altLang="zh-CN"/>
                  <a:t> the base. Represent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zh-CN"/>
                  <a:t> in base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</m:oMath>
                </a14:m>
                <a:r>
                  <a:rPr lang="en-US" altLang="zh-CN"/>
                  <a:t> as 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zh-CN"/>
                  <a:t> is a 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</m:oMath>
                </a14:m>
                <a:r>
                  <a:rPr lang="en-US" altLang="zh-CN"/>
                  <a:t>+1)-digit in base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</m:oMath>
                </a14:m>
                <a:r>
                  <a:rPr lang="en-US" altLang="zh-CN"/>
                  <a:t>)</a:t>
                </a:r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  <a:p>
                <a:r>
                  <a:rPr lang="en-US" altLang="zh-CN"/>
                  <a:t>The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zh-CN"/>
                  <a:t>-th element in the van der Corput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/>
                  <a:t> is</a:t>
                </a:r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12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>
                    <a:sym typeface="+mn-ea"/>
                  </a:rPr>
                  <a:t>Example </a:t>
                </a:r>
                <a:r>
                  <a:rPr lang="en-US" altLang="zh-CN" i="1">
                    <a:sym typeface="+mn-ea"/>
                  </a:rPr>
                  <a:t>van der Corput</a:t>
                </a:r>
                <a:r>
                  <a:rPr lang="en-US" altLang="zh-CN">
                    <a:sym typeface="+mn-ea"/>
                  </a:rPr>
                  <a:t> sequence with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endParaRPr lang="en-US" altLang="zh-CN"/>
              </a:p>
              <a:p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Halton and Hammersley Sequences (3)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8810" cy="435165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Use different bases (usually prime numbers) for each design variable</a:t>
                </a: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For an optimization problem with </a:t>
                </a:r>
                <a:r>
                  <a:rPr lang="en-US" altLang="zh-CN" dirty="0" err="1">
                    <a:sym typeface="+mn-ea"/>
                  </a:rPr>
                  <a:t>n</a:t>
                </a:r>
                <a:r>
                  <a:rPr lang="en-US" altLang="zh-CN" baseline="-25000" dirty="0" err="1">
                    <a:uFillTx/>
                    <a:sym typeface="+mn-ea"/>
                  </a:rPr>
                  <a:t>d</a:t>
                </a:r>
                <a:r>
                  <a:rPr lang="en-US" altLang="zh-CN" baseline="-25000" dirty="0">
                    <a:uFillTx/>
                    <a:sym typeface="+mn-ea"/>
                  </a:rPr>
                  <a:t> </a:t>
                </a:r>
                <a:r>
                  <a:rPr lang="en-US" altLang="zh-CN" dirty="0"/>
                  <a:t>design variables, Halton sequence generates the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solution guess using 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for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= 1,2,3,...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8810" cy="4351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766" y="4001452"/>
            <a:ext cx="3040380" cy="5981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Halton and Hammersley Sequences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59219" cy="4351338"/>
          </a:xfrm>
        </p:spPr>
        <p:txBody>
          <a:bodyPr/>
          <a:lstStyle/>
          <a:p>
            <a:r>
              <a:rPr lang="en-US" dirty="0"/>
              <a:t>Hammersley sequence is a special case of the Halton sequence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number of points to be generated </a:t>
            </a:r>
            <a:r>
              <a:rPr lang="en-US" altLang="zh-CN" dirty="0">
                <a:sym typeface="+mn-ea"/>
              </a:rPr>
              <a:t>n</a:t>
            </a:r>
            <a:r>
              <a:rPr lang="en-US" altLang="zh-CN" i="1" baseline="-25000" dirty="0">
                <a:sym typeface="+mn-ea"/>
              </a:rPr>
              <a:t>p</a:t>
            </a:r>
            <a:r>
              <a:rPr lang="en-US" altLang="zh-CN" baseline="-25000" dirty="0">
                <a:sym typeface="+mn-ea"/>
              </a:rPr>
              <a:t> </a:t>
            </a:r>
            <a:r>
              <a:rPr lang="en-US" dirty="0"/>
              <a:t>needs to be known in advance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first design variable uses regular spacing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475" y="4539859"/>
            <a:ext cx="2979049" cy="7015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Gradient Descent (1)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0916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The gradient gives the direction of the fastest increase in the objective function at a given solution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Already verified using the directional gradient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0"/>
                <a:r>
                  <a:rPr lang="en-US" altLang="zh-CN" dirty="0"/>
                  <a:t>Negated gradient gives the direction of the </a:t>
                </a:r>
                <a:r>
                  <a:rPr lang="en-US" altLang="zh-CN" i="1" dirty="0"/>
                  <a:t>steepest descent</a:t>
                </a:r>
                <a:r>
                  <a:rPr lang="en-US" altLang="zh-CN" dirty="0"/>
                  <a:t> in the objective function at a given solution</a:t>
                </a:r>
                <a:endParaRPr lang="en-US" altLang="zh-CN" dirty="0"/>
              </a:p>
              <a:p>
                <a:pPr lvl="0"/>
                <a:endParaRPr lang="en-US" altLang="zh-CN" dirty="0"/>
              </a:p>
              <a:p>
                <a:pPr lvl="0"/>
                <a:r>
                  <a:rPr lang="en-US" altLang="zh-CN" dirty="0">
                    <a:sym typeface="+mn-ea"/>
                  </a:rPr>
                  <a:t>Idea of the gradient descent: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=−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𝛻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dirty="0"/>
                  <a:t> or more commonly</a:t>
                </a:r>
                <a:endParaRPr lang="en-US" altLang="zh-CN" dirty="0"/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𝛻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𝛻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𝐱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i="1">
                                                <a:latin typeface="Cambria Math" panose="02040503050406030204" charset="0"/>
                                                <a:cs typeface="Cambria Math" panose="02040503050406030204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>
                    <a:cs typeface="Cambria Math" panose="02040503050406030204" charset="0"/>
                  </a:rPr>
                  <a:t> </a:t>
                </a:r>
                <a:endParaRPr lang="en-US" altLang="zh-CN" dirty="0">
                  <a:cs typeface="Cambria Math" panose="02040503050406030204" charset="0"/>
                </a:endParaRPr>
              </a:p>
              <a:p>
                <a:pPr marL="0" lvl="0" indent="0">
                  <a:buNone/>
                </a:pPr>
                <a:endParaRPr lang="en-US" altLang="zh-CN" dirty="0"/>
              </a:p>
              <a:p>
                <a:pPr lvl="0"/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09160"/>
              </a:xfrm>
              <a:blipFill rotWithShape="1">
                <a:blip r:embed="rId1"/>
                <a:stretch>
                  <a:fillRect b="-13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Effect of Scaling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102975" cy="4351655"/>
          </a:xfrm>
        </p:spPr>
        <p:txBody>
          <a:bodyPr/>
          <a:lstStyle/>
          <a:p>
            <a:r>
              <a:rPr lang="en-US" altLang="zh-CN" dirty="0"/>
              <a:t>The elements of the gradient may have very different magnitude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sz="2400" dirty="0"/>
          </a:p>
          <a:p>
            <a:pPr marL="457200" lvl="1" indent="0">
              <a:buNone/>
            </a:pPr>
            <a:endParaRPr lang="en-US" altLang="zh-CN" sz="2400" dirty="0"/>
          </a:p>
          <a:p>
            <a:pPr lvl="1"/>
            <a:endParaRPr lang="en-US" altLang="zh-CN" sz="2400" dirty="0"/>
          </a:p>
          <a:p>
            <a:pPr lvl="0"/>
            <a:r>
              <a:rPr lang="en-US" altLang="zh-CN" sz="2800" dirty="0"/>
              <a:t>Scale  the design variables to make all of them have an order of magnitude of 1</a:t>
            </a:r>
            <a:r>
              <a:rPr lang="en-US" altLang="zh-CN" dirty="0"/>
              <a:t>: normalization</a:t>
            </a:r>
            <a:endParaRPr lang="en-US" altLang="zh-CN" sz="2800" dirty="0"/>
          </a:p>
          <a:p>
            <a:pPr lvl="0"/>
            <a:endParaRPr lang="en-US" altLang="zh-CN" sz="2800" dirty="0"/>
          </a:p>
          <a:p>
            <a:pPr lvl="0"/>
            <a:endParaRPr lang="en-US" altLang="zh-CN" sz="2800" dirty="0"/>
          </a:p>
          <a:p>
            <a:pPr lvl="0"/>
            <a:endParaRPr lang="en-US" altLang="zh-CN" sz="2800" dirty="0"/>
          </a:p>
          <a:p>
            <a:pPr lvl="0"/>
            <a:endParaRPr lang="en-US" altLang="zh-CN" sz="2800" dirty="0"/>
          </a:p>
          <a:p>
            <a:pPr lvl="0"/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Gradient Descent (2)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Gradient descent may be highly inefficient even after scaling the design variables, when the Hessian matrix has a large condition number (the curvature of the objective function varies greatly with the direction)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zigzagging behavior with exact line search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</m:den>
                    </m:f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𝑓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𝛻</m:t>
                                    </m:r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𝑓</m:t>
                                    </m:r>
                                    <m:r>
                                      <a:rPr lang="en-US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(</m:t>
                                    </m:r>
                                    <m:r>
                                      <a:rPr lang="en-US" b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))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𝜕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𝛻</m:t>
                                        </m:r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𝑓</m:t>
                                        </m:r>
                                        <m:r>
                                          <a:rPr lang="en-US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(</m:t>
                                        </m:r>
                                        <m:r>
                                          <a:rPr lang="en-US" b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)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num>
                      <m:den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bSup>
                      </m:den>
                    </m:f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/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∗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𝛻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𝑓</m:t>
                                </m:r>
                                <m:r>
                                  <a:rPr lang="en-US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b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))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𝛻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/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=−</m:t>
                    </m:r>
                    <m:sSup>
                      <m:sSup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𝛻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/>
                  <a:t>The first equality comes from the use of chain rule</a:t>
                </a:r>
                <a:endParaRPr lang="en-US"/>
              </a:p>
              <a:p>
                <a:r>
                  <a:rPr lang="en-US"/>
                  <a:t>The last equality comes from noting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𝛻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/>
                  <a:t> is the exact line search solution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  <m:r>
                              <a:rPr lang="en-US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b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</m:func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Newton’s Method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Quasi-Newton Method (1)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933430" cy="4831080"/>
          </a:xfrm>
        </p:spPr>
        <p:txBody>
          <a:bodyPr>
            <a:normAutofit/>
          </a:bodyPr>
          <a:lstStyle/>
          <a:p>
            <a:r>
              <a:rPr lang="en-US" altLang="zh-CN"/>
              <a:t>Idea: approximate the true Hessian using only gradient information</a:t>
            </a:r>
            <a:endParaRPr lang="en-US" altLang="zh-CN"/>
          </a:p>
          <a:p>
            <a:r>
              <a:rPr lang="en-US" altLang="zh-CN"/>
              <a:t>Similar to the Newton’s method, the solution update is 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0" indent="0">
              <a:buNone/>
            </a:pPr>
            <a:r>
              <a:rPr lang="en-US" altLang="zh-CN"/>
              <a:t>indicating a </a:t>
            </a:r>
            <a:r>
              <a:rPr lang="en-US" altLang="zh-CN" u="sng"/>
              <a:t>new</a:t>
            </a:r>
            <a:r>
              <a:rPr lang="en-US" altLang="zh-CN"/>
              <a:t> second-order approximation of the cost function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In each iteration, we need to update the solution </a:t>
            </a:r>
            <a:r>
              <a:rPr lang="en-US" altLang="zh-CN" u="sng"/>
              <a:t>and</a:t>
            </a:r>
            <a:r>
              <a:rPr lang="en-US" altLang="zh-CN"/>
              <a:t> Hessian estimate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6219" y="5776595"/>
            <a:ext cx="4539615" cy="716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405" y="2794000"/>
            <a:ext cx="4629150" cy="635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305" y="4632384"/>
            <a:ext cx="8786495" cy="4969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Quasi-Newton Method (2)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Secant equation</a:t>
            </a:r>
            <a:endParaRPr lang="en-US" dirty="0"/>
          </a:p>
          <a:p>
            <a:pPr lvl="1"/>
            <a:r>
              <a:rPr lang="en-US" dirty="0"/>
              <a:t>Idea: with the estimated Hessian, the second-order approximation of the cost function gives the </a:t>
            </a:r>
            <a:r>
              <a:rPr lang="en-US" i="1" dirty="0"/>
              <a:t>correct</a:t>
            </a:r>
            <a:r>
              <a:rPr lang="en-US" dirty="0"/>
              <a:t> gradient at </a:t>
            </a:r>
            <a:r>
              <a:rPr lang="en-US" i="1" dirty="0"/>
              <a:t>both</a:t>
            </a:r>
            <a:r>
              <a:rPr lang="en-US" dirty="0"/>
              <a:t> </a:t>
            </a:r>
            <a:r>
              <a:rPr lang="en-US" dirty="0" err="1"/>
              <a:t>x</a:t>
            </a:r>
            <a:r>
              <a:rPr lang="en-US" i="1" baseline="-25000" dirty="0" err="1">
                <a:solidFill>
                  <a:schemeClr val="tx1"/>
                </a:solidFill>
                <a:uFillTx/>
              </a:rPr>
              <a:t>k</a:t>
            </a:r>
            <a:r>
              <a:rPr lang="en-US" dirty="0"/>
              <a:t> and x</a:t>
            </a:r>
            <a:r>
              <a:rPr lang="en-US" i="1" baseline="-25000" dirty="0">
                <a:solidFill>
                  <a:schemeClr val="tx1"/>
                </a:solidFill>
                <a:uFillTx/>
              </a:rPr>
              <a:t>k-</a:t>
            </a:r>
            <a:r>
              <a:rPr lang="en-US" baseline="-25000" dirty="0">
                <a:solidFill>
                  <a:schemeClr val="tx1"/>
                </a:solidFill>
                <a:uFillTx/>
              </a:rPr>
              <a:t>1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Geometric </a:t>
            </a:r>
            <a:r>
              <a:rPr lang="en-US" dirty="0" err="1"/>
              <a:t>intepretation</a:t>
            </a:r>
            <a:r>
              <a:rPr lang="en-US" dirty="0"/>
              <a:t> of secant equation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Quasi-Newton Method (3)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Curvature condition</a:t>
            </a:r>
            <a:endParaRPr lang="en-US" altLang="zh-CN" dirty="0"/>
          </a:p>
          <a:p>
            <a:pPr lvl="1"/>
            <a:r>
              <a:rPr lang="en-US" altLang="zh-CN" dirty="0"/>
              <a:t>The estimated Hessian should always be positive definite to guarantee that the Newton update is a descent direction</a:t>
            </a:r>
            <a:endParaRPr lang="en-US" altLang="zh-CN" dirty="0"/>
          </a:p>
          <a:p>
            <a:pPr lvl="2"/>
            <a:r>
              <a:rPr lang="en-US" altLang="zh-CN" dirty="0"/>
              <a:t>How to determine whether a direction is a descent direction?</a:t>
            </a:r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8465" y="4549140"/>
            <a:ext cx="3733800" cy="6572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Quasi-Newton Method (4)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number of equation induced by the secant condition is smaller than the number of unknowns</a:t>
            </a:r>
            <a:endParaRPr lang="en-US" altLang="zh-CN" dirty="0"/>
          </a:p>
          <a:p>
            <a:r>
              <a:rPr lang="en-US" altLang="zh-CN" dirty="0"/>
              <a:t>Idea: low-rank update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one by </a:t>
            </a:r>
            <a:r>
              <a:rPr lang="en-US" altLang="zh-CN" dirty="0" err="1"/>
              <a:t>Broyden</a:t>
            </a:r>
            <a:r>
              <a:rPr lang="en-US" altLang="zh-CN" dirty="0"/>
              <a:t>, Fletcher, </a:t>
            </a:r>
            <a:r>
              <a:rPr lang="en-US" altLang="zh-CN" dirty="0" err="1"/>
              <a:t>Goldfard</a:t>
            </a:r>
            <a:r>
              <a:rPr lang="en-US" altLang="zh-CN" dirty="0"/>
              <a:t> and Shanno (BFGS update) is considered most effective empirically</a:t>
            </a:r>
            <a:endParaRPr lang="en-US" altLang="zh-CN" dirty="0"/>
          </a:p>
          <a:p>
            <a:r>
              <a:rPr lang="en-US" altLang="zh-CN" dirty="0"/>
              <a:t>BFGS update: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How to find a and b?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Derivation Summary</a:t>
            </a:r>
            <a:endParaRPr 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7735" y="1983105"/>
            <a:ext cx="3886200" cy="400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230" y="2449830"/>
            <a:ext cx="24003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530" y="2799080"/>
            <a:ext cx="1428750" cy="266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125" y="3091180"/>
            <a:ext cx="1428750" cy="285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1513840"/>
            <a:ext cx="3409950" cy="317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85" y="3553460"/>
            <a:ext cx="3143250" cy="381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585" y="3949700"/>
            <a:ext cx="3676650" cy="361950"/>
          </a:xfrm>
          <a:prstGeom prst="rect">
            <a:avLst/>
          </a:prstGeom>
        </p:spPr>
      </p:pic>
      <p:pic>
        <p:nvPicPr>
          <p:cNvPr id="11" name="图片 10" descr="460b5f4d-c58c-48a8-a1ac-e054d2004f7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" y="4560570"/>
            <a:ext cx="733425" cy="345440"/>
          </a:xfrm>
          <a:prstGeom prst="rect">
            <a:avLst/>
          </a:prstGeom>
        </p:spPr>
      </p:pic>
      <p:pic>
        <p:nvPicPr>
          <p:cNvPr id="12" name="图片 11" descr="11439776-8d2d-4b72-a3eb-5d5a830bacc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850" y="4853940"/>
            <a:ext cx="1590675" cy="3346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" y="5487670"/>
            <a:ext cx="2838450" cy="6096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850" y="6089650"/>
            <a:ext cx="6686550" cy="5905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982345" y="1481455"/>
            <a:ext cx="3470910" cy="39814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82345" y="2026285"/>
            <a:ext cx="4103370" cy="138874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82345" y="3582035"/>
            <a:ext cx="4103370" cy="755650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82345" y="4534535"/>
            <a:ext cx="2070735" cy="75565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82345" y="5417185"/>
            <a:ext cx="7023735" cy="1314450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Quasi-Newton Method (5)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considerations</a:t>
            </a:r>
            <a:endParaRPr lang="en-US" dirty="0"/>
          </a:p>
          <a:p>
            <a:pPr lvl="1"/>
            <a:r>
              <a:rPr lang="en-US" dirty="0"/>
              <a:t>Initialization of BFGS update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Reset of BFGS update from time to time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Gauss-Newton Method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Levenburg-Marquardt Algorithm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Line Search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Amijo Condition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7495</Words>
  <Application>WPS 演示</Application>
  <PresentationFormat>Widescreen</PresentationFormat>
  <Paragraphs>327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Arial</vt:lpstr>
      <vt:lpstr>宋体</vt:lpstr>
      <vt:lpstr>Wingdings</vt:lpstr>
      <vt:lpstr>Aptos</vt:lpstr>
      <vt:lpstr>Segoe UI</vt:lpstr>
      <vt:lpstr>Calibri Light</vt:lpstr>
      <vt:lpstr>Calibri</vt:lpstr>
      <vt:lpstr>微软雅黑</vt:lpstr>
      <vt:lpstr>Arial Unicode MS</vt:lpstr>
      <vt:lpstr>Cambria Math</vt:lpstr>
      <vt:lpstr>Office Theme</vt:lpstr>
      <vt:lpstr>Unconstrained Optimisation</vt:lpstr>
      <vt:lpstr>Course notes</vt:lpstr>
      <vt:lpstr>Generic Problem formulation</vt:lpstr>
      <vt:lpstr>Transformation of Design Variables</vt:lpstr>
      <vt:lpstr>Challenges</vt:lpstr>
      <vt:lpstr>Gradient-free v.s. Gradient based (1)</vt:lpstr>
      <vt:lpstr>Gradient-free v.s. Gradient based (2)</vt:lpstr>
      <vt:lpstr>Taylor-Series Expansion Re-visited (1)</vt:lpstr>
      <vt:lpstr>Taylor-Series Expansion Re-visited (2)</vt:lpstr>
      <vt:lpstr>Gradient</vt:lpstr>
      <vt:lpstr>PowerPoint 演示文稿</vt:lpstr>
      <vt:lpstr>Hessian</vt:lpstr>
      <vt:lpstr>PowerPoint 演示文稿</vt:lpstr>
      <vt:lpstr>Gradient-based Iterative Solution to Unconstrained Optimization Problems</vt:lpstr>
      <vt:lpstr>Optimality Conditions</vt:lpstr>
      <vt:lpstr>Stopping Criteria</vt:lpstr>
      <vt:lpstr>Multi-start Initialization</vt:lpstr>
      <vt:lpstr>Latin Hypercube Sampling (LHS)</vt:lpstr>
      <vt:lpstr>Latin Hypercube Sampling (LHS) Continued</vt:lpstr>
      <vt:lpstr>PowerPoint 演示文稿</vt:lpstr>
      <vt:lpstr>Halton and Hammersley Sequences (1)</vt:lpstr>
      <vt:lpstr>Halton and Hammersley Sequences (2)</vt:lpstr>
      <vt:lpstr>PowerPoint 演示文稿</vt:lpstr>
      <vt:lpstr>Halton and Hammersley Sequences (3)</vt:lpstr>
      <vt:lpstr>Halton and Hammersley Sequences (4)</vt:lpstr>
      <vt:lpstr>Gradient Descent (1)</vt:lpstr>
      <vt:lpstr>Effect of Scaling</vt:lpstr>
      <vt:lpstr>Gradient Descent (2)</vt:lpstr>
      <vt:lpstr>PowerPoint 演示文稿</vt:lpstr>
      <vt:lpstr>Newton’s Method</vt:lpstr>
      <vt:lpstr>Quasi-Newton Method (1)</vt:lpstr>
      <vt:lpstr>Quasi-Newton Method (2)</vt:lpstr>
      <vt:lpstr>Quasi-Newton Method (3)</vt:lpstr>
      <vt:lpstr>Quasi-Newton Method (4)</vt:lpstr>
      <vt:lpstr>PowerPoint 演示文稿</vt:lpstr>
      <vt:lpstr>Quasi-Newton Method (5)</vt:lpstr>
      <vt:lpstr>Gauss-Newton Method</vt:lpstr>
      <vt:lpstr>Levenburg-Marquardt Algorithm</vt:lpstr>
      <vt:lpstr>Line Search</vt:lpstr>
      <vt:lpstr>Amijo Condition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杨乐</cp:lastModifiedBy>
  <cp:revision>52</cp:revision>
  <cp:lastPrinted>2026-03-02T02:43:00Z</cp:lastPrinted>
  <dcterms:created xsi:type="dcterms:W3CDTF">2025-07-23T00:59:00Z</dcterms:created>
  <dcterms:modified xsi:type="dcterms:W3CDTF">2026-03-02T11:14:28Z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39C3529690C042E4BC947AE6136902A4_13</vt:lpwstr>
  </property>
  <property fmtid="{D5CDD505-2E9C-101B-9397-08002B2CF9AE}" pid="3" name="KSOProductBuildVer">
    <vt:lpwstr>2052-12.1.0.24657</vt:lpwstr>
  </property>
  <property fmtid="{D5CDD505-2E9C-101B-9397-08002B2CF9AE}" pid="4" name="ClassificationContentMarkingFooterLocations">
    <vt:lpwstr>Office Theme:9</vt:lpwstr>
  </property>
  <property fmtid="{D5CDD505-2E9C-101B-9397-08002B2CF9AE}" pid="5" name="ClassificationContentMarkingFooterText">
    <vt:lpwstr>In-Confidence</vt:lpwstr>
  </property>
</Properties>
</file>